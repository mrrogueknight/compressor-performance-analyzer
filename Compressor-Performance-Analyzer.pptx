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91" r:id="rId2"/>
    <p:sldId id="257" r:id="rId3"/>
    <p:sldId id="285" r:id="rId4"/>
    <p:sldId id="284" r:id="rId5"/>
    <p:sldId id="259" r:id="rId6"/>
    <p:sldId id="286" r:id="rId7"/>
    <p:sldId id="260" r:id="rId8"/>
    <p:sldId id="261" r:id="rId9"/>
    <p:sldId id="292" r:id="rId10"/>
    <p:sldId id="262" r:id="rId11"/>
    <p:sldId id="293" r:id="rId12"/>
    <p:sldId id="264" r:id="rId13"/>
    <p:sldId id="263" r:id="rId14"/>
    <p:sldId id="265" r:id="rId15"/>
    <p:sldId id="266" r:id="rId16"/>
    <p:sldId id="267" r:id="rId17"/>
    <p:sldId id="268" r:id="rId18"/>
    <p:sldId id="294" r:id="rId19"/>
    <p:sldId id="295" r:id="rId20"/>
    <p:sldId id="269" r:id="rId21"/>
    <p:sldId id="270" r:id="rId22"/>
    <p:sldId id="271" r:id="rId23"/>
    <p:sldId id="281" r:id="rId24"/>
    <p:sldId id="283" r:id="rId25"/>
    <p:sldId id="273" r:id="rId26"/>
    <p:sldId id="27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>
        <p:scale>
          <a:sx n="66" d="100"/>
          <a:sy n="66" d="100"/>
        </p:scale>
        <p:origin x="1203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83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1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59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9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50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3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6532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881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5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1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69D86C-6FEE-4182-8852-678E243D4DA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DF643C7-6CBB-4C52-A82A-D168768A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rRogueKnight/Compressor-Performance-Analyze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034" y="-103667"/>
            <a:ext cx="12182476" cy="67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B9B9B9-EE94-698F-672A-DDF59AD49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0204" y="1727790"/>
            <a:ext cx="9144000" cy="968782"/>
          </a:xfrm>
        </p:spPr>
        <p:txBody>
          <a:bodyPr>
            <a:normAutofit fontScale="90000"/>
          </a:bodyPr>
          <a:lstStyle/>
          <a:p>
            <a:pPr fontAlgn="t"/>
            <a:r>
              <a:rPr lang="en-US" sz="4400" b="1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Compressor-Performance-Analyzer</a:t>
            </a:r>
            <a:endParaRPr lang="en-US" sz="4400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1ABF0-1D0E-7137-A9F7-BC6B1B852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0204" y="2926871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Compressor Performance Analyzer is a sophisticated, browser-based thermodynamic simulation platform designed to help engineers, researchers, and students accurately analyze, optimize, and forecast the performance of multi-stage centrifugal air compressor systems.</a:t>
            </a:r>
          </a:p>
        </p:txBody>
      </p:sp>
    </p:spTree>
    <p:extLst>
      <p:ext uri="{BB962C8B-B14F-4D97-AF65-F5344CB8AC3E}">
        <p14:creationId xmlns:p14="http://schemas.microsoft.com/office/powerpoint/2010/main" val="182312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822606"/>
            <a:ext cx="6197283" cy="223097"/>
            <a:chOff x="0" y="0"/>
            <a:chExt cx="2448309" cy="88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309" cy="88137"/>
            </a:xfrm>
            <a:custGeom>
              <a:avLst/>
              <a:gdLst/>
              <a:ahLst/>
              <a:cxnLst/>
              <a:rect l="l" t="t" r="r" b="b"/>
              <a:pathLst>
                <a:path w="2448309" h="88137">
                  <a:moveTo>
                    <a:pt x="0" y="0"/>
                  </a:moveTo>
                  <a:lnTo>
                    <a:pt x="2448309" y="0"/>
                  </a:lnTo>
                  <a:lnTo>
                    <a:pt x="2448309" y="88137"/>
                  </a:lnTo>
                  <a:lnTo>
                    <a:pt x="0" y="88137"/>
                  </a:lnTo>
                  <a:close/>
                </a:path>
              </a:pathLst>
            </a:custGeom>
            <a:gradFill rotWithShape="1">
              <a:gsLst>
                <a:gs pos="0">
                  <a:srgbClr val="CBA96B">
                    <a:alpha val="44000"/>
                  </a:srgbClr>
                </a:gs>
                <a:gs pos="100000">
                  <a:srgbClr val="EDD5AB">
                    <a:alpha val="4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448309" cy="1071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3916" y="1274966"/>
            <a:ext cx="378065" cy="174217"/>
            <a:chOff x="0" y="0"/>
            <a:chExt cx="1543357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198256" y="1449311"/>
            <a:ext cx="0" cy="1488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1183916" y="1598140"/>
            <a:ext cx="378065" cy="174217"/>
            <a:chOff x="0" y="0"/>
            <a:chExt cx="1543357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2" name="AutoShape 12"/>
          <p:cNvSpPr/>
          <p:nvPr/>
        </p:nvSpPr>
        <p:spPr>
          <a:xfrm flipH="1">
            <a:off x="1547641" y="1449183"/>
            <a:ext cx="0" cy="1488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AutoShape 13"/>
          <p:cNvSpPr/>
          <p:nvPr/>
        </p:nvSpPr>
        <p:spPr>
          <a:xfrm flipV="1">
            <a:off x="1198256" y="1286251"/>
            <a:ext cx="174848" cy="1629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AutoShape 14"/>
          <p:cNvSpPr/>
          <p:nvPr/>
        </p:nvSpPr>
        <p:spPr>
          <a:xfrm flipH="1" flipV="1">
            <a:off x="1372949" y="1286251"/>
            <a:ext cx="174693" cy="1629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AutoShape 15"/>
          <p:cNvSpPr/>
          <p:nvPr/>
        </p:nvSpPr>
        <p:spPr>
          <a:xfrm flipH="1" flipV="1">
            <a:off x="1198772" y="1600562"/>
            <a:ext cx="176696" cy="1623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AutoShape 16"/>
          <p:cNvSpPr/>
          <p:nvPr/>
        </p:nvSpPr>
        <p:spPr>
          <a:xfrm flipV="1">
            <a:off x="1378657" y="1597485"/>
            <a:ext cx="174848" cy="1629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AutoShape 17"/>
          <p:cNvSpPr/>
          <p:nvPr/>
        </p:nvSpPr>
        <p:spPr>
          <a:xfrm flipV="1">
            <a:off x="1378657" y="1760417"/>
            <a:ext cx="0" cy="10429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8" name="AutoShape 18"/>
          <p:cNvSpPr/>
          <p:nvPr/>
        </p:nvSpPr>
        <p:spPr>
          <a:xfrm flipV="1">
            <a:off x="1372949" y="1171317"/>
            <a:ext cx="0" cy="12052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Freeform 19"/>
          <p:cNvSpPr/>
          <p:nvPr/>
        </p:nvSpPr>
        <p:spPr>
          <a:xfrm>
            <a:off x="1246561" y="1391391"/>
            <a:ext cx="264192" cy="264192"/>
          </a:xfrm>
          <a:custGeom>
            <a:avLst/>
            <a:gdLst/>
            <a:ahLst/>
            <a:cxnLst/>
            <a:rect l="l" t="t" r="r" b="b"/>
            <a:pathLst>
              <a:path w="396288" h="396288">
                <a:moveTo>
                  <a:pt x="0" y="0"/>
                </a:moveTo>
                <a:lnTo>
                  <a:pt x="396288" y="0"/>
                </a:lnTo>
                <a:lnTo>
                  <a:pt x="396288" y="396288"/>
                </a:lnTo>
                <a:lnTo>
                  <a:pt x="0" y="396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0" name="AutoShape 20"/>
          <p:cNvSpPr/>
          <p:nvPr/>
        </p:nvSpPr>
        <p:spPr>
          <a:xfrm>
            <a:off x="2774724" y="1510787"/>
            <a:ext cx="105942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21" name="Group 21"/>
          <p:cNvGrpSpPr/>
          <p:nvPr/>
        </p:nvGrpSpPr>
        <p:grpSpPr>
          <a:xfrm>
            <a:off x="4386594" y="1309158"/>
            <a:ext cx="378065" cy="174217"/>
            <a:chOff x="0" y="0"/>
            <a:chExt cx="1543357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4400934" y="1483504"/>
            <a:ext cx="0" cy="1488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25" name="Group 25"/>
          <p:cNvGrpSpPr/>
          <p:nvPr/>
        </p:nvGrpSpPr>
        <p:grpSpPr>
          <a:xfrm rot="-10800000">
            <a:off x="4386594" y="1632333"/>
            <a:ext cx="378065" cy="174217"/>
            <a:chOff x="0" y="0"/>
            <a:chExt cx="1543357" cy="711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28" name="AutoShape 28"/>
          <p:cNvSpPr/>
          <p:nvPr/>
        </p:nvSpPr>
        <p:spPr>
          <a:xfrm flipH="1">
            <a:off x="4750319" y="1483376"/>
            <a:ext cx="0" cy="1488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9" name="AutoShape 29"/>
          <p:cNvSpPr/>
          <p:nvPr/>
        </p:nvSpPr>
        <p:spPr>
          <a:xfrm flipV="1">
            <a:off x="4400934" y="1320444"/>
            <a:ext cx="174848" cy="1629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AutoShape 30"/>
          <p:cNvSpPr/>
          <p:nvPr/>
        </p:nvSpPr>
        <p:spPr>
          <a:xfrm flipH="1" flipV="1">
            <a:off x="4575627" y="1320444"/>
            <a:ext cx="174693" cy="1629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AutoShape 31"/>
          <p:cNvSpPr/>
          <p:nvPr/>
        </p:nvSpPr>
        <p:spPr>
          <a:xfrm flipH="1" flipV="1">
            <a:off x="4401449" y="1634755"/>
            <a:ext cx="176696" cy="1623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AutoShape 32"/>
          <p:cNvSpPr/>
          <p:nvPr/>
        </p:nvSpPr>
        <p:spPr>
          <a:xfrm flipV="1">
            <a:off x="4581335" y="1631678"/>
            <a:ext cx="174848" cy="1629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AutoShape 33"/>
          <p:cNvSpPr/>
          <p:nvPr/>
        </p:nvSpPr>
        <p:spPr>
          <a:xfrm flipV="1">
            <a:off x="4581335" y="1794611"/>
            <a:ext cx="0" cy="10429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AutoShape 34"/>
          <p:cNvSpPr/>
          <p:nvPr/>
        </p:nvSpPr>
        <p:spPr>
          <a:xfrm flipV="1">
            <a:off x="4575627" y="1205510"/>
            <a:ext cx="0" cy="12052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Freeform 35"/>
          <p:cNvSpPr/>
          <p:nvPr/>
        </p:nvSpPr>
        <p:spPr>
          <a:xfrm>
            <a:off x="4449239" y="1425585"/>
            <a:ext cx="264192" cy="264192"/>
          </a:xfrm>
          <a:custGeom>
            <a:avLst/>
            <a:gdLst/>
            <a:ahLst/>
            <a:cxnLst/>
            <a:rect l="l" t="t" r="r" b="b"/>
            <a:pathLst>
              <a:path w="396288" h="396288">
                <a:moveTo>
                  <a:pt x="0" y="0"/>
                </a:moveTo>
                <a:lnTo>
                  <a:pt x="396287" y="0"/>
                </a:lnTo>
                <a:lnTo>
                  <a:pt x="396287" y="396287"/>
                </a:lnTo>
                <a:lnTo>
                  <a:pt x="0" y="396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36" name="Group 36"/>
          <p:cNvGrpSpPr/>
          <p:nvPr/>
        </p:nvGrpSpPr>
        <p:grpSpPr>
          <a:xfrm>
            <a:off x="1198772" y="2596301"/>
            <a:ext cx="339153" cy="156286"/>
            <a:chOff x="0" y="0"/>
            <a:chExt cx="1543357" cy="711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1211636" y="2752702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40" name="Group 40"/>
          <p:cNvGrpSpPr/>
          <p:nvPr/>
        </p:nvGrpSpPr>
        <p:grpSpPr>
          <a:xfrm rot="-10800000">
            <a:off x="1198772" y="2886212"/>
            <a:ext cx="339153" cy="156286"/>
            <a:chOff x="0" y="0"/>
            <a:chExt cx="1543357" cy="711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43" name="AutoShape 43"/>
          <p:cNvSpPr/>
          <p:nvPr/>
        </p:nvSpPr>
        <p:spPr>
          <a:xfrm flipH="1">
            <a:off x="1525060" y="2752587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4" name="AutoShape 44"/>
          <p:cNvSpPr/>
          <p:nvPr/>
        </p:nvSpPr>
        <p:spPr>
          <a:xfrm flipV="1">
            <a:off x="1211637" y="2606425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AutoShape 45"/>
          <p:cNvSpPr/>
          <p:nvPr/>
        </p:nvSpPr>
        <p:spPr>
          <a:xfrm flipH="1" flipV="1">
            <a:off x="1368348" y="2606425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6" name="AutoShape 46"/>
          <p:cNvSpPr/>
          <p:nvPr/>
        </p:nvSpPr>
        <p:spPr>
          <a:xfrm flipH="1" flipV="1">
            <a:off x="1212099" y="2888385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7" name="AutoShape 47"/>
          <p:cNvSpPr/>
          <p:nvPr/>
        </p:nvSpPr>
        <p:spPr>
          <a:xfrm flipV="1">
            <a:off x="1373469" y="2885625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8" name="AutoShape 48"/>
          <p:cNvSpPr/>
          <p:nvPr/>
        </p:nvSpPr>
        <p:spPr>
          <a:xfrm flipV="1">
            <a:off x="1373469" y="3031787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9" name="AutoShape 49"/>
          <p:cNvSpPr/>
          <p:nvPr/>
        </p:nvSpPr>
        <p:spPr>
          <a:xfrm flipV="1">
            <a:off x="1368348" y="2503319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50" name="Freeform 50"/>
          <p:cNvSpPr/>
          <p:nvPr/>
        </p:nvSpPr>
        <p:spPr>
          <a:xfrm>
            <a:off x="1254969" y="2700743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500" y="0"/>
                </a:lnTo>
                <a:lnTo>
                  <a:pt x="355500" y="355500"/>
                </a:lnTo>
                <a:lnTo>
                  <a:pt x="0" y="35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1" name="AutoShape 51"/>
          <p:cNvSpPr/>
          <p:nvPr/>
        </p:nvSpPr>
        <p:spPr>
          <a:xfrm>
            <a:off x="2625845" y="2807851"/>
            <a:ext cx="95037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52" name="Group 52"/>
          <p:cNvGrpSpPr/>
          <p:nvPr/>
        </p:nvGrpSpPr>
        <p:grpSpPr>
          <a:xfrm>
            <a:off x="4071812" y="2563823"/>
            <a:ext cx="339153" cy="156286"/>
            <a:chOff x="0" y="0"/>
            <a:chExt cx="1543357" cy="711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55" name="AutoShape 55"/>
          <p:cNvSpPr/>
          <p:nvPr/>
        </p:nvSpPr>
        <p:spPr>
          <a:xfrm flipV="1">
            <a:off x="4084676" y="2720224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56" name="Group 56"/>
          <p:cNvGrpSpPr/>
          <p:nvPr/>
        </p:nvGrpSpPr>
        <p:grpSpPr>
          <a:xfrm rot="-10800000">
            <a:off x="4071812" y="2853734"/>
            <a:ext cx="339153" cy="156286"/>
            <a:chOff x="0" y="0"/>
            <a:chExt cx="1543357" cy="711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59" name="AutoShape 59"/>
          <p:cNvSpPr/>
          <p:nvPr/>
        </p:nvSpPr>
        <p:spPr>
          <a:xfrm flipH="1">
            <a:off x="4398101" y="2720109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0" name="AutoShape 60"/>
          <p:cNvSpPr/>
          <p:nvPr/>
        </p:nvSpPr>
        <p:spPr>
          <a:xfrm flipV="1">
            <a:off x="4084677" y="2573947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1" name="AutoShape 61"/>
          <p:cNvSpPr/>
          <p:nvPr/>
        </p:nvSpPr>
        <p:spPr>
          <a:xfrm flipH="1" flipV="1">
            <a:off x="4241389" y="2573947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2" name="AutoShape 62"/>
          <p:cNvSpPr/>
          <p:nvPr/>
        </p:nvSpPr>
        <p:spPr>
          <a:xfrm flipH="1" flipV="1">
            <a:off x="4085139" y="2855908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3" name="AutoShape 63"/>
          <p:cNvSpPr/>
          <p:nvPr/>
        </p:nvSpPr>
        <p:spPr>
          <a:xfrm flipV="1">
            <a:off x="4246509" y="2853147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4" name="AutoShape 64"/>
          <p:cNvSpPr/>
          <p:nvPr/>
        </p:nvSpPr>
        <p:spPr>
          <a:xfrm flipV="1">
            <a:off x="4246509" y="2999309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5" name="AutoShape 65"/>
          <p:cNvSpPr/>
          <p:nvPr/>
        </p:nvSpPr>
        <p:spPr>
          <a:xfrm flipV="1">
            <a:off x="4241389" y="2470841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6" name="Freeform 66"/>
          <p:cNvSpPr/>
          <p:nvPr/>
        </p:nvSpPr>
        <p:spPr>
          <a:xfrm>
            <a:off x="4128009" y="2668266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499" y="0"/>
                </a:lnTo>
                <a:lnTo>
                  <a:pt x="355499" y="355499"/>
                </a:lnTo>
                <a:lnTo>
                  <a:pt x="0" y="35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7" name="Group 67"/>
          <p:cNvGrpSpPr/>
          <p:nvPr/>
        </p:nvGrpSpPr>
        <p:grpSpPr>
          <a:xfrm>
            <a:off x="1241642" y="3662071"/>
            <a:ext cx="339153" cy="156286"/>
            <a:chOff x="0" y="0"/>
            <a:chExt cx="1543357" cy="711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70" name="AutoShape 70"/>
          <p:cNvSpPr/>
          <p:nvPr/>
        </p:nvSpPr>
        <p:spPr>
          <a:xfrm flipV="1">
            <a:off x="1254506" y="3818472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71" name="Group 71"/>
          <p:cNvGrpSpPr/>
          <p:nvPr/>
        </p:nvGrpSpPr>
        <p:grpSpPr>
          <a:xfrm rot="-10800000">
            <a:off x="1241642" y="3951983"/>
            <a:ext cx="339153" cy="156286"/>
            <a:chOff x="0" y="0"/>
            <a:chExt cx="1543357" cy="7112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74" name="AutoShape 74"/>
          <p:cNvSpPr/>
          <p:nvPr/>
        </p:nvSpPr>
        <p:spPr>
          <a:xfrm>
            <a:off x="1567931" y="3818357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5" name="AutoShape 75"/>
          <p:cNvSpPr/>
          <p:nvPr/>
        </p:nvSpPr>
        <p:spPr>
          <a:xfrm flipV="1">
            <a:off x="1254507" y="3672195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6" name="AutoShape 76"/>
          <p:cNvSpPr/>
          <p:nvPr/>
        </p:nvSpPr>
        <p:spPr>
          <a:xfrm flipH="1" flipV="1">
            <a:off x="1411219" y="3672195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7" name="AutoShape 77"/>
          <p:cNvSpPr/>
          <p:nvPr/>
        </p:nvSpPr>
        <p:spPr>
          <a:xfrm flipH="1" flipV="1">
            <a:off x="1254969" y="3954156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8" name="AutoShape 78"/>
          <p:cNvSpPr/>
          <p:nvPr/>
        </p:nvSpPr>
        <p:spPr>
          <a:xfrm flipV="1">
            <a:off x="1416339" y="3951395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9" name="AutoShape 79"/>
          <p:cNvSpPr/>
          <p:nvPr/>
        </p:nvSpPr>
        <p:spPr>
          <a:xfrm flipV="1">
            <a:off x="1416339" y="4097557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80" name="AutoShape 80"/>
          <p:cNvSpPr/>
          <p:nvPr/>
        </p:nvSpPr>
        <p:spPr>
          <a:xfrm flipV="1">
            <a:off x="1411219" y="3569090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81" name="Freeform 81"/>
          <p:cNvSpPr/>
          <p:nvPr/>
        </p:nvSpPr>
        <p:spPr>
          <a:xfrm>
            <a:off x="1297839" y="3766514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499" y="0"/>
                </a:lnTo>
                <a:lnTo>
                  <a:pt x="355499" y="355499"/>
                </a:lnTo>
                <a:lnTo>
                  <a:pt x="0" y="35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2" name="AutoShape 82"/>
          <p:cNvSpPr/>
          <p:nvPr/>
        </p:nvSpPr>
        <p:spPr>
          <a:xfrm>
            <a:off x="2668715" y="3873621"/>
            <a:ext cx="95037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83" name="Group 83"/>
          <p:cNvGrpSpPr/>
          <p:nvPr/>
        </p:nvGrpSpPr>
        <p:grpSpPr>
          <a:xfrm>
            <a:off x="4114683" y="3629593"/>
            <a:ext cx="339153" cy="156286"/>
            <a:chOff x="0" y="0"/>
            <a:chExt cx="1543357" cy="7112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86" name="AutoShape 86"/>
          <p:cNvSpPr/>
          <p:nvPr/>
        </p:nvSpPr>
        <p:spPr>
          <a:xfrm flipV="1">
            <a:off x="4127547" y="3785994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87" name="Group 87"/>
          <p:cNvGrpSpPr/>
          <p:nvPr/>
        </p:nvGrpSpPr>
        <p:grpSpPr>
          <a:xfrm rot="-10800000">
            <a:off x="4114683" y="3919505"/>
            <a:ext cx="339153" cy="156286"/>
            <a:chOff x="0" y="0"/>
            <a:chExt cx="1543357" cy="7112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90" name="AutoShape 90"/>
          <p:cNvSpPr/>
          <p:nvPr/>
        </p:nvSpPr>
        <p:spPr>
          <a:xfrm flipH="1">
            <a:off x="4440971" y="3785880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1" name="AutoShape 91"/>
          <p:cNvSpPr/>
          <p:nvPr/>
        </p:nvSpPr>
        <p:spPr>
          <a:xfrm flipV="1">
            <a:off x="4127547" y="3639717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2" name="AutoShape 92"/>
          <p:cNvSpPr/>
          <p:nvPr/>
        </p:nvSpPr>
        <p:spPr>
          <a:xfrm flipH="1" flipV="1">
            <a:off x="4284259" y="3639717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3" name="AutoShape 93"/>
          <p:cNvSpPr/>
          <p:nvPr/>
        </p:nvSpPr>
        <p:spPr>
          <a:xfrm flipH="1" flipV="1">
            <a:off x="4128010" y="3921678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4" name="AutoShape 94"/>
          <p:cNvSpPr/>
          <p:nvPr/>
        </p:nvSpPr>
        <p:spPr>
          <a:xfrm flipV="1">
            <a:off x="4289380" y="3918917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5" name="AutoShape 95"/>
          <p:cNvSpPr/>
          <p:nvPr/>
        </p:nvSpPr>
        <p:spPr>
          <a:xfrm flipV="1">
            <a:off x="4289379" y="4065080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6" name="AutoShape 96"/>
          <p:cNvSpPr/>
          <p:nvPr/>
        </p:nvSpPr>
        <p:spPr>
          <a:xfrm flipV="1">
            <a:off x="4284259" y="3536612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7" name="Freeform 97"/>
          <p:cNvSpPr/>
          <p:nvPr/>
        </p:nvSpPr>
        <p:spPr>
          <a:xfrm>
            <a:off x="4170879" y="3734036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500" y="0"/>
                </a:lnTo>
                <a:lnTo>
                  <a:pt x="355500" y="355500"/>
                </a:lnTo>
                <a:lnTo>
                  <a:pt x="0" y="35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98" name="Group 98"/>
          <p:cNvGrpSpPr/>
          <p:nvPr/>
        </p:nvGrpSpPr>
        <p:grpSpPr>
          <a:xfrm>
            <a:off x="1270175" y="4727842"/>
            <a:ext cx="339153" cy="156286"/>
            <a:chOff x="0" y="0"/>
            <a:chExt cx="1543357" cy="7112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01" name="AutoShape 101"/>
          <p:cNvSpPr/>
          <p:nvPr/>
        </p:nvSpPr>
        <p:spPr>
          <a:xfrm flipV="1">
            <a:off x="1283039" y="4884243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102" name="Group 102"/>
          <p:cNvGrpSpPr/>
          <p:nvPr/>
        </p:nvGrpSpPr>
        <p:grpSpPr>
          <a:xfrm rot="-10800000">
            <a:off x="1270175" y="5017753"/>
            <a:ext cx="339153" cy="156286"/>
            <a:chOff x="0" y="0"/>
            <a:chExt cx="1543357" cy="7112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05" name="AutoShape 105"/>
          <p:cNvSpPr/>
          <p:nvPr/>
        </p:nvSpPr>
        <p:spPr>
          <a:xfrm>
            <a:off x="1596463" y="4884128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6" name="AutoShape 106"/>
          <p:cNvSpPr/>
          <p:nvPr/>
        </p:nvSpPr>
        <p:spPr>
          <a:xfrm flipV="1">
            <a:off x="1283039" y="4737966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7" name="AutoShape 107"/>
          <p:cNvSpPr/>
          <p:nvPr/>
        </p:nvSpPr>
        <p:spPr>
          <a:xfrm flipH="1" flipV="1">
            <a:off x="1439751" y="4737966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8" name="AutoShape 108"/>
          <p:cNvSpPr/>
          <p:nvPr/>
        </p:nvSpPr>
        <p:spPr>
          <a:xfrm flipH="1" flipV="1">
            <a:off x="1283502" y="5019926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9" name="AutoShape 109"/>
          <p:cNvSpPr/>
          <p:nvPr/>
        </p:nvSpPr>
        <p:spPr>
          <a:xfrm flipV="1">
            <a:off x="1444872" y="5017166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0" name="AutoShape 110"/>
          <p:cNvSpPr/>
          <p:nvPr/>
        </p:nvSpPr>
        <p:spPr>
          <a:xfrm flipV="1">
            <a:off x="1444871" y="5163328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1" name="AutoShape 111"/>
          <p:cNvSpPr/>
          <p:nvPr/>
        </p:nvSpPr>
        <p:spPr>
          <a:xfrm flipV="1">
            <a:off x="1439751" y="4634860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2" name="Freeform 112"/>
          <p:cNvSpPr/>
          <p:nvPr/>
        </p:nvSpPr>
        <p:spPr>
          <a:xfrm>
            <a:off x="1326372" y="4832284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499" y="0"/>
                </a:lnTo>
                <a:lnTo>
                  <a:pt x="355499" y="355500"/>
                </a:lnTo>
                <a:lnTo>
                  <a:pt x="0" y="35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3" name="AutoShape 113"/>
          <p:cNvSpPr/>
          <p:nvPr/>
        </p:nvSpPr>
        <p:spPr>
          <a:xfrm>
            <a:off x="2697248" y="4939391"/>
            <a:ext cx="95037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114" name="Group 114"/>
          <p:cNvGrpSpPr/>
          <p:nvPr/>
        </p:nvGrpSpPr>
        <p:grpSpPr>
          <a:xfrm>
            <a:off x="4143216" y="4695364"/>
            <a:ext cx="339153" cy="156286"/>
            <a:chOff x="0" y="0"/>
            <a:chExt cx="1543357" cy="7112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17" name="AutoShape 117"/>
          <p:cNvSpPr/>
          <p:nvPr/>
        </p:nvSpPr>
        <p:spPr>
          <a:xfrm flipV="1">
            <a:off x="4156079" y="4851765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118" name="Group 118"/>
          <p:cNvGrpSpPr/>
          <p:nvPr/>
        </p:nvGrpSpPr>
        <p:grpSpPr>
          <a:xfrm rot="-10800000">
            <a:off x="4143216" y="4985275"/>
            <a:ext cx="339153" cy="156286"/>
            <a:chOff x="0" y="0"/>
            <a:chExt cx="1543357" cy="71120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21" name="AutoShape 121"/>
          <p:cNvSpPr/>
          <p:nvPr/>
        </p:nvSpPr>
        <p:spPr>
          <a:xfrm flipH="1">
            <a:off x="4469504" y="4851650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2" name="AutoShape 122"/>
          <p:cNvSpPr/>
          <p:nvPr/>
        </p:nvSpPr>
        <p:spPr>
          <a:xfrm flipV="1">
            <a:off x="4156080" y="4705488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3" name="AutoShape 123"/>
          <p:cNvSpPr/>
          <p:nvPr/>
        </p:nvSpPr>
        <p:spPr>
          <a:xfrm flipH="1" flipV="1">
            <a:off x="4312791" y="4705488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4" name="AutoShape 124"/>
          <p:cNvSpPr/>
          <p:nvPr/>
        </p:nvSpPr>
        <p:spPr>
          <a:xfrm flipH="1" flipV="1">
            <a:off x="4156542" y="4987448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5" name="AutoShape 125"/>
          <p:cNvSpPr/>
          <p:nvPr/>
        </p:nvSpPr>
        <p:spPr>
          <a:xfrm flipV="1">
            <a:off x="4317913" y="4984688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6" name="AutoShape 126"/>
          <p:cNvSpPr/>
          <p:nvPr/>
        </p:nvSpPr>
        <p:spPr>
          <a:xfrm flipV="1">
            <a:off x="4317912" y="5130850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7" name="AutoShape 127"/>
          <p:cNvSpPr/>
          <p:nvPr/>
        </p:nvSpPr>
        <p:spPr>
          <a:xfrm flipV="1">
            <a:off x="4312791" y="4602382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8" name="Freeform 128"/>
          <p:cNvSpPr/>
          <p:nvPr/>
        </p:nvSpPr>
        <p:spPr>
          <a:xfrm>
            <a:off x="4199412" y="4799806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500" y="0"/>
                </a:lnTo>
                <a:lnTo>
                  <a:pt x="355500" y="355500"/>
                </a:lnTo>
                <a:lnTo>
                  <a:pt x="0" y="35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9" name="Group 129"/>
          <p:cNvGrpSpPr/>
          <p:nvPr/>
        </p:nvGrpSpPr>
        <p:grpSpPr>
          <a:xfrm>
            <a:off x="1198772" y="5812236"/>
            <a:ext cx="339153" cy="156286"/>
            <a:chOff x="0" y="0"/>
            <a:chExt cx="1543357" cy="71120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32" name="AutoShape 132"/>
          <p:cNvSpPr/>
          <p:nvPr/>
        </p:nvSpPr>
        <p:spPr>
          <a:xfrm flipV="1">
            <a:off x="1211636" y="5968637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133" name="Group 133"/>
          <p:cNvGrpSpPr/>
          <p:nvPr/>
        </p:nvGrpSpPr>
        <p:grpSpPr>
          <a:xfrm rot="-10800000">
            <a:off x="1198772" y="6102148"/>
            <a:ext cx="339153" cy="156286"/>
            <a:chOff x="0" y="0"/>
            <a:chExt cx="1543357" cy="71120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36" name="AutoShape 136"/>
          <p:cNvSpPr/>
          <p:nvPr/>
        </p:nvSpPr>
        <p:spPr>
          <a:xfrm>
            <a:off x="1525060" y="5968522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7" name="AutoShape 137"/>
          <p:cNvSpPr/>
          <p:nvPr/>
        </p:nvSpPr>
        <p:spPr>
          <a:xfrm flipV="1">
            <a:off x="1211637" y="5822360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8" name="AutoShape 138"/>
          <p:cNvSpPr/>
          <p:nvPr/>
        </p:nvSpPr>
        <p:spPr>
          <a:xfrm flipH="1" flipV="1">
            <a:off x="1368348" y="5822360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9" name="AutoShape 139"/>
          <p:cNvSpPr/>
          <p:nvPr/>
        </p:nvSpPr>
        <p:spPr>
          <a:xfrm flipH="1" flipV="1">
            <a:off x="1212099" y="6104320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0" name="AutoShape 140"/>
          <p:cNvSpPr/>
          <p:nvPr/>
        </p:nvSpPr>
        <p:spPr>
          <a:xfrm flipV="1">
            <a:off x="1373469" y="6101560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1" name="AutoShape 141"/>
          <p:cNvSpPr/>
          <p:nvPr/>
        </p:nvSpPr>
        <p:spPr>
          <a:xfrm flipV="1">
            <a:off x="1373469" y="6247722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2" name="AutoShape 142"/>
          <p:cNvSpPr/>
          <p:nvPr/>
        </p:nvSpPr>
        <p:spPr>
          <a:xfrm flipV="1">
            <a:off x="1368348" y="5719255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3" name="Freeform 143"/>
          <p:cNvSpPr/>
          <p:nvPr/>
        </p:nvSpPr>
        <p:spPr>
          <a:xfrm>
            <a:off x="1254969" y="5916679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500" y="0"/>
                </a:lnTo>
                <a:lnTo>
                  <a:pt x="355500" y="355499"/>
                </a:lnTo>
                <a:lnTo>
                  <a:pt x="0" y="35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44" name="AutoShape 144"/>
          <p:cNvSpPr/>
          <p:nvPr/>
        </p:nvSpPr>
        <p:spPr>
          <a:xfrm>
            <a:off x="2625845" y="6023785"/>
            <a:ext cx="95037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145" name="Group 145"/>
          <p:cNvGrpSpPr/>
          <p:nvPr/>
        </p:nvGrpSpPr>
        <p:grpSpPr>
          <a:xfrm>
            <a:off x="4071812" y="5779758"/>
            <a:ext cx="339153" cy="156286"/>
            <a:chOff x="0" y="0"/>
            <a:chExt cx="1543357" cy="711200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48" name="AutoShape 148"/>
          <p:cNvSpPr/>
          <p:nvPr/>
        </p:nvSpPr>
        <p:spPr>
          <a:xfrm flipV="1">
            <a:off x="4084676" y="5936159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149" name="Group 149"/>
          <p:cNvGrpSpPr/>
          <p:nvPr/>
        </p:nvGrpSpPr>
        <p:grpSpPr>
          <a:xfrm rot="-10800000">
            <a:off x="4071812" y="6069670"/>
            <a:ext cx="339153" cy="156286"/>
            <a:chOff x="0" y="0"/>
            <a:chExt cx="1543357" cy="71120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1543357" cy="711200"/>
            </a:xfrm>
            <a:custGeom>
              <a:avLst/>
              <a:gdLst/>
              <a:ahLst/>
              <a:cxnLst/>
              <a:rect l="l" t="t" r="r" b="b"/>
              <a:pathLst>
                <a:path w="1543357" h="711200">
                  <a:moveTo>
                    <a:pt x="771678" y="0"/>
                  </a:moveTo>
                  <a:lnTo>
                    <a:pt x="1543357" y="711200"/>
                  </a:lnTo>
                  <a:lnTo>
                    <a:pt x="0" y="711200"/>
                  </a:lnTo>
                  <a:lnTo>
                    <a:pt x="771678" y="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241150" y="311150"/>
              <a:ext cx="1061058" cy="349250"/>
            </a:xfrm>
            <a:prstGeom prst="rect">
              <a:avLst/>
            </a:prstGeom>
          </p:spPr>
          <p:txBody>
            <a:bodyPr lIns="13674" tIns="13674" rIns="13674" bIns="13674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52" name="AutoShape 152"/>
          <p:cNvSpPr/>
          <p:nvPr/>
        </p:nvSpPr>
        <p:spPr>
          <a:xfrm flipH="1">
            <a:off x="4398101" y="5936045"/>
            <a:ext cx="0" cy="13351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3" name="AutoShape 153"/>
          <p:cNvSpPr/>
          <p:nvPr/>
        </p:nvSpPr>
        <p:spPr>
          <a:xfrm flipV="1">
            <a:off x="4084677" y="5789882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4" name="AutoShape 154"/>
          <p:cNvSpPr/>
          <p:nvPr/>
        </p:nvSpPr>
        <p:spPr>
          <a:xfrm flipH="1" flipV="1">
            <a:off x="4241389" y="5789882"/>
            <a:ext cx="156712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5" name="AutoShape 155"/>
          <p:cNvSpPr/>
          <p:nvPr/>
        </p:nvSpPr>
        <p:spPr>
          <a:xfrm flipH="1" flipV="1">
            <a:off x="4085139" y="6071842"/>
            <a:ext cx="158510" cy="14566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6" name="AutoShape 156"/>
          <p:cNvSpPr/>
          <p:nvPr/>
        </p:nvSpPr>
        <p:spPr>
          <a:xfrm flipV="1">
            <a:off x="4246509" y="6069082"/>
            <a:ext cx="156851" cy="146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7" name="AutoShape 157"/>
          <p:cNvSpPr/>
          <p:nvPr/>
        </p:nvSpPr>
        <p:spPr>
          <a:xfrm flipV="1">
            <a:off x="4246509" y="6215244"/>
            <a:ext cx="0" cy="9356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8" name="AutoShape 158"/>
          <p:cNvSpPr/>
          <p:nvPr/>
        </p:nvSpPr>
        <p:spPr>
          <a:xfrm flipV="1">
            <a:off x="4241389" y="5686777"/>
            <a:ext cx="0" cy="1081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9" name="Freeform 159"/>
          <p:cNvSpPr/>
          <p:nvPr/>
        </p:nvSpPr>
        <p:spPr>
          <a:xfrm>
            <a:off x="4128009" y="5884201"/>
            <a:ext cx="237000" cy="237000"/>
          </a:xfrm>
          <a:custGeom>
            <a:avLst/>
            <a:gdLst/>
            <a:ahLst/>
            <a:cxnLst/>
            <a:rect l="l" t="t" r="r" b="b"/>
            <a:pathLst>
              <a:path w="355500" h="355500">
                <a:moveTo>
                  <a:pt x="0" y="0"/>
                </a:moveTo>
                <a:lnTo>
                  <a:pt x="355499" y="0"/>
                </a:lnTo>
                <a:lnTo>
                  <a:pt x="355499" y="355500"/>
                </a:lnTo>
                <a:lnTo>
                  <a:pt x="0" y="35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60" name="Group 160"/>
          <p:cNvGrpSpPr/>
          <p:nvPr/>
        </p:nvGrpSpPr>
        <p:grpSpPr>
          <a:xfrm>
            <a:off x="0" y="84028"/>
            <a:ext cx="12355138" cy="578819"/>
            <a:chOff x="0" y="0"/>
            <a:chExt cx="4881042" cy="228669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163" name="TextBox 163"/>
          <p:cNvSpPr txBox="1"/>
          <p:nvPr/>
        </p:nvSpPr>
        <p:spPr>
          <a:xfrm>
            <a:off x="1323031" y="1869246"/>
            <a:ext cx="111253" cy="1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"/>
              </a:lnSpc>
              <a:spcBef>
                <a:spcPct val="0"/>
              </a:spcBef>
            </a:pPr>
            <a:r>
              <a:rPr lang="en-US" sz="47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CH3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317323" y="1094607"/>
            <a:ext cx="111253" cy="1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"/>
              </a:lnSpc>
              <a:spcBef>
                <a:spcPct val="0"/>
              </a:spcBef>
            </a:pPr>
            <a:r>
              <a:rPr lang="en-US" sz="47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CH3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1989337" y="1430261"/>
            <a:ext cx="292191" cy="16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302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732915" y="1387414"/>
            <a:ext cx="98187" cy="24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489756" y="1903438"/>
            <a:ext cx="183158" cy="8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"/>
              </a:lnSpc>
              <a:spcBef>
                <a:spcPct val="0"/>
              </a:spcBef>
            </a:pPr>
            <a:r>
              <a:rPr lang="en-US" sz="47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COOH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484048" y="1128800"/>
            <a:ext cx="183158" cy="8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"/>
              </a:lnSpc>
              <a:spcBef>
                <a:spcPct val="0"/>
              </a:spcBef>
            </a:pPr>
            <a:r>
              <a:rPr lang="en-US" sz="47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COOH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4996797" y="1449282"/>
            <a:ext cx="388711" cy="16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2H2O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4888929" y="1407564"/>
            <a:ext cx="98187" cy="24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1324650" y="3122411"/>
            <a:ext cx="97637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CH3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1313260" y="2427502"/>
            <a:ext cx="110177" cy="7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CH3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1921294" y="2733652"/>
            <a:ext cx="262117" cy="1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  <a:spcBef>
                <a:spcPct val="0"/>
              </a:spcBef>
            </a:pPr>
            <a:r>
              <a:rPr lang="en-US" sz="8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1691729" y="2694561"/>
            <a:ext cx="87155" cy="21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1"/>
              </a:lnSpc>
              <a:spcBef>
                <a:spcPct val="0"/>
              </a:spcBef>
            </a:pPr>
            <a:r>
              <a:rPr lang="en-US" sz="1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4197680" y="3089933"/>
            <a:ext cx="9765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CH3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4180822" y="2395024"/>
            <a:ext cx="121133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4794334" y="2701174"/>
            <a:ext cx="262117" cy="1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  <a:spcBef>
                <a:spcPct val="0"/>
              </a:spcBef>
            </a:pPr>
            <a:r>
              <a:rPr lang="en-US" sz="8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H2O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4564769" y="2662083"/>
            <a:ext cx="87155" cy="21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1"/>
              </a:lnSpc>
              <a:spcBef>
                <a:spcPct val="0"/>
              </a:spcBef>
            </a:pPr>
            <a:r>
              <a:rPr lang="en-US" sz="1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1367521" y="4188181"/>
            <a:ext cx="97637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CH3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1350652" y="3493272"/>
            <a:ext cx="121133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1964164" y="3799422"/>
            <a:ext cx="406101" cy="1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  <a:spcBef>
                <a:spcPct val="0"/>
              </a:spcBef>
            </a:pPr>
            <a:r>
              <a:rPr lang="en-US" sz="8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0.502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1734599" y="3760331"/>
            <a:ext cx="87155" cy="21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1"/>
              </a:lnSpc>
              <a:spcBef>
                <a:spcPct val="0"/>
              </a:spcBef>
            </a:pPr>
            <a:r>
              <a:rPr lang="en-US" sz="1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4240550" y="4155703"/>
            <a:ext cx="9765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CH3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4202734" y="3460795"/>
            <a:ext cx="16304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COOH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1396054" y="5253951"/>
            <a:ext cx="97637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CH3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1358227" y="4559043"/>
            <a:ext cx="16304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COOH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1992697" y="4865192"/>
            <a:ext cx="262117" cy="1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  <a:spcBef>
                <a:spcPct val="0"/>
              </a:spcBef>
            </a:pPr>
            <a:r>
              <a:rPr lang="en-US" sz="8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1763131" y="4826101"/>
            <a:ext cx="87155" cy="21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1"/>
              </a:lnSpc>
              <a:spcBef>
                <a:spcPct val="0"/>
              </a:spcBef>
            </a:pPr>
            <a:r>
              <a:rPr lang="en-US" sz="1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4257321" y="5221473"/>
            <a:ext cx="121183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4231267" y="4526565"/>
            <a:ext cx="16304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COOH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4865737" y="4832714"/>
            <a:ext cx="262117" cy="1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  <a:spcBef>
                <a:spcPct val="0"/>
              </a:spcBef>
            </a:pPr>
            <a:r>
              <a:rPr lang="en-US" sz="8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H2O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4636172" y="4793623"/>
            <a:ext cx="87155" cy="21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1"/>
              </a:lnSpc>
              <a:spcBef>
                <a:spcPct val="0"/>
              </a:spcBef>
            </a:pPr>
            <a:r>
              <a:rPr lang="en-US" sz="1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grpSp>
        <p:nvGrpSpPr>
          <p:cNvPr id="193" name="Group 193"/>
          <p:cNvGrpSpPr/>
          <p:nvPr/>
        </p:nvGrpSpPr>
        <p:grpSpPr>
          <a:xfrm>
            <a:off x="-5555" y="2076678"/>
            <a:ext cx="6197283" cy="223097"/>
            <a:chOff x="0" y="0"/>
            <a:chExt cx="2448309" cy="88137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2448309" cy="88137"/>
            </a:xfrm>
            <a:custGeom>
              <a:avLst/>
              <a:gdLst/>
              <a:ahLst/>
              <a:cxnLst/>
              <a:rect l="l" t="t" r="r" b="b"/>
              <a:pathLst>
                <a:path w="2448309" h="88137">
                  <a:moveTo>
                    <a:pt x="0" y="0"/>
                  </a:moveTo>
                  <a:lnTo>
                    <a:pt x="2448309" y="0"/>
                  </a:lnTo>
                  <a:lnTo>
                    <a:pt x="2448309" y="88137"/>
                  </a:lnTo>
                  <a:lnTo>
                    <a:pt x="0" y="88137"/>
                  </a:lnTo>
                  <a:close/>
                </a:path>
              </a:pathLst>
            </a:custGeom>
            <a:gradFill rotWithShape="1">
              <a:gsLst>
                <a:gs pos="0">
                  <a:srgbClr val="CBA96B">
                    <a:alpha val="44000"/>
                  </a:srgbClr>
                </a:gs>
                <a:gs pos="100000">
                  <a:srgbClr val="EDD5AB">
                    <a:alpha val="4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0" y="-19050"/>
              <a:ext cx="2448309" cy="1071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196" name="TextBox 196"/>
          <p:cNvSpPr txBox="1"/>
          <p:nvPr/>
        </p:nvSpPr>
        <p:spPr>
          <a:xfrm>
            <a:off x="446709" y="2058282"/>
            <a:ext cx="1816596" cy="24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vise Reaction : 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3717895" y="3170574"/>
            <a:ext cx="1379969" cy="10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"/>
              </a:lnSpc>
              <a:spcBef>
                <a:spcPct val="0"/>
              </a:spcBef>
            </a:pPr>
            <a:r>
              <a:rPr lang="en-US" sz="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4-Methyl Benzaldehyde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3847006" y="4229750"/>
            <a:ext cx="896665" cy="10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"/>
              </a:lnSpc>
              <a:spcBef>
                <a:spcPct val="0"/>
              </a:spcBef>
            </a:pPr>
            <a:r>
              <a:rPr lang="en-US" sz="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Para Toluic Acid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3883743" y="5299129"/>
            <a:ext cx="1005703" cy="10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"/>
              </a:lnSpc>
              <a:spcBef>
                <a:spcPct val="0"/>
              </a:spcBef>
            </a:pPr>
            <a:r>
              <a:rPr lang="en-US" sz="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4-Carboxy Benzaldehyde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2814928" y="1226062"/>
            <a:ext cx="962066" cy="245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  <a:spcBef>
                <a:spcPct val="0"/>
              </a:spcBef>
            </a:pPr>
            <a:r>
              <a:rPr lang="en-US" sz="73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HBR,CO/MN Acetate in Acidic Medium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3014669" y="1542886"/>
            <a:ext cx="63878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200 C, 14.7(Barg)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1312903" y="6338346"/>
            <a:ext cx="121133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1286824" y="5643437"/>
            <a:ext cx="16304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COOH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1921294" y="5949586"/>
            <a:ext cx="387051" cy="1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"/>
              </a:lnSpc>
              <a:spcBef>
                <a:spcPct val="0"/>
              </a:spcBef>
            </a:pPr>
            <a:r>
              <a:rPr lang="en-US" sz="8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0.502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1691729" y="5910495"/>
            <a:ext cx="87155" cy="21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1"/>
              </a:lnSpc>
              <a:spcBef>
                <a:spcPct val="0"/>
              </a:spcBef>
            </a:pPr>
            <a:r>
              <a:rPr lang="en-US" sz="1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4164985" y="6305868"/>
            <a:ext cx="16304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COOH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4159864" y="5610960"/>
            <a:ext cx="163049" cy="1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"/>
              </a:lnSpc>
              <a:spcBef>
                <a:spcPct val="0"/>
              </a:spcBef>
            </a:pPr>
            <a:r>
              <a:rPr lang="en-US" sz="4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COOH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3969948" y="6403284"/>
            <a:ext cx="650781" cy="10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"/>
              </a:lnSpc>
              <a:spcBef>
                <a:spcPct val="0"/>
              </a:spcBef>
            </a:pPr>
            <a:r>
              <a:rPr lang="en-US" sz="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Terepthalic Acid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103047" y="117923"/>
            <a:ext cx="402480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7"/>
              </a:lnSpc>
              <a:spcBef>
                <a:spcPct val="0"/>
              </a:spcBef>
            </a:pPr>
            <a:r>
              <a:rPr lang="en-US" sz="2025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Reaction Pathway for PTA Production From Para-Xylene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7240484" y="108703"/>
            <a:ext cx="359182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7"/>
              </a:lnSpc>
            </a:pPr>
            <a:r>
              <a:rPr lang="en-US" sz="2025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Air Compressor (PAC) - Process Description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5384991" y="1407564"/>
            <a:ext cx="98187" cy="24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5561302" y="1458787"/>
            <a:ext cx="298767" cy="16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Heat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6177569" y="2641966"/>
            <a:ext cx="6068245" cy="223097"/>
            <a:chOff x="0" y="0"/>
            <a:chExt cx="2397331" cy="88137"/>
          </a:xfrm>
        </p:grpSpPr>
        <p:sp>
          <p:nvSpPr>
            <p:cNvPr id="214" name="Freeform 214"/>
            <p:cNvSpPr/>
            <p:nvPr/>
          </p:nvSpPr>
          <p:spPr>
            <a:xfrm>
              <a:off x="0" y="0"/>
              <a:ext cx="2397331" cy="88137"/>
            </a:xfrm>
            <a:custGeom>
              <a:avLst/>
              <a:gdLst/>
              <a:ahLst/>
              <a:cxnLst/>
              <a:rect l="l" t="t" r="r" b="b"/>
              <a:pathLst>
                <a:path w="2397331" h="88137">
                  <a:moveTo>
                    <a:pt x="0" y="0"/>
                  </a:moveTo>
                  <a:lnTo>
                    <a:pt x="2397331" y="0"/>
                  </a:lnTo>
                  <a:lnTo>
                    <a:pt x="2397331" y="88137"/>
                  </a:lnTo>
                  <a:lnTo>
                    <a:pt x="0" y="88137"/>
                  </a:lnTo>
                  <a:close/>
                </a:path>
              </a:pathLst>
            </a:custGeom>
            <a:gradFill rotWithShape="1">
              <a:gsLst>
                <a:gs pos="0">
                  <a:srgbClr val="CBA96B">
                    <a:alpha val="44000"/>
                  </a:srgbClr>
                </a:gs>
                <a:gs pos="100000">
                  <a:srgbClr val="EDD5AB">
                    <a:alpha val="4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0" y="-19050"/>
              <a:ext cx="2397331" cy="1071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216" name="TextBox 216"/>
          <p:cNvSpPr txBox="1"/>
          <p:nvPr/>
        </p:nvSpPr>
        <p:spPr>
          <a:xfrm>
            <a:off x="6439692" y="2887279"/>
            <a:ext cx="5559617" cy="182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484" lvl="1" indent="-136742">
              <a:lnSpc>
                <a:spcPts val="1773"/>
              </a:lnSpc>
              <a:spcBef>
                <a:spcPct val="0"/>
              </a:spcBef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Atmospheric air enters the compressor through the inlet section.</a:t>
            </a:r>
          </a:p>
          <a:p>
            <a:pPr marL="273484" lvl="1" indent="-136742">
              <a:lnSpc>
                <a:spcPts val="1773"/>
              </a:lnSpc>
              <a:spcBef>
                <a:spcPct val="0"/>
              </a:spcBef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Air is compressed in five stages.</a:t>
            </a:r>
          </a:p>
          <a:p>
            <a:pPr marL="273484" lvl="1" indent="-136742">
              <a:lnSpc>
                <a:spcPts val="1773"/>
              </a:lnSpc>
              <a:spcBef>
                <a:spcPct val="0"/>
              </a:spcBef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pressure increases progressively in each stage.</a:t>
            </a:r>
          </a:p>
          <a:p>
            <a:pPr marL="273484" lvl="1" indent="-136742">
              <a:lnSpc>
                <a:spcPts val="1773"/>
              </a:lnSpc>
              <a:spcBef>
                <a:spcPct val="0"/>
              </a:spcBef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Compression increases air temperature.</a:t>
            </a:r>
          </a:p>
          <a:p>
            <a:pPr marL="273484" lvl="1" indent="-136742">
              <a:lnSpc>
                <a:spcPts val="1773"/>
              </a:lnSpc>
              <a:spcBef>
                <a:spcPct val="0"/>
              </a:spcBef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Intercoolers remove heat between stages.</a:t>
            </a:r>
          </a:p>
          <a:p>
            <a:pPr marL="273484" lvl="1" indent="-136742">
              <a:lnSpc>
                <a:spcPts val="1773"/>
              </a:lnSpc>
              <a:spcBef>
                <a:spcPct val="0"/>
              </a:spcBef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Compressed air leaves the fifth stage at the required process pressure and temperature.</a:t>
            </a:r>
          </a:p>
          <a:p>
            <a:pPr marL="273484" lvl="1" indent="-136742">
              <a:lnSpc>
                <a:spcPts val="1773"/>
              </a:lnSpc>
              <a:spcBef>
                <a:spcPct val="0"/>
              </a:spcBef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compressed air is then supplied to downstream process units.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6598442" y="2616566"/>
            <a:ext cx="2139158" cy="244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Principle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446709" y="792716"/>
            <a:ext cx="1646932" cy="24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 Reaction: </a:t>
            </a:r>
          </a:p>
        </p:txBody>
      </p:sp>
      <p:sp>
        <p:nvSpPr>
          <p:cNvPr id="219" name="AutoShape 219"/>
          <p:cNvSpPr/>
          <p:nvPr/>
        </p:nvSpPr>
        <p:spPr>
          <a:xfrm flipV="1">
            <a:off x="6177569" y="822605"/>
            <a:ext cx="0" cy="56312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0" name="TextBox 220"/>
          <p:cNvSpPr txBox="1"/>
          <p:nvPr/>
        </p:nvSpPr>
        <p:spPr>
          <a:xfrm>
            <a:off x="9621493" y="5571423"/>
            <a:ext cx="67627" cy="16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grpSp>
        <p:nvGrpSpPr>
          <p:cNvPr id="221" name="Group 221"/>
          <p:cNvGrpSpPr/>
          <p:nvPr/>
        </p:nvGrpSpPr>
        <p:grpSpPr>
          <a:xfrm>
            <a:off x="6197600" y="838200"/>
            <a:ext cx="6068245" cy="223097"/>
            <a:chOff x="0" y="0"/>
            <a:chExt cx="2397331" cy="88137"/>
          </a:xfrm>
        </p:grpSpPr>
        <p:sp>
          <p:nvSpPr>
            <p:cNvPr id="222" name="Freeform 222"/>
            <p:cNvSpPr/>
            <p:nvPr/>
          </p:nvSpPr>
          <p:spPr>
            <a:xfrm>
              <a:off x="0" y="0"/>
              <a:ext cx="2397331" cy="88137"/>
            </a:xfrm>
            <a:custGeom>
              <a:avLst/>
              <a:gdLst/>
              <a:ahLst/>
              <a:cxnLst/>
              <a:rect l="l" t="t" r="r" b="b"/>
              <a:pathLst>
                <a:path w="2397331" h="88137">
                  <a:moveTo>
                    <a:pt x="0" y="0"/>
                  </a:moveTo>
                  <a:lnTo>
                    <a:pt x="2397331" y="0"/>
                  </a:lnTo>
                  <a:lnTo>
                    <a:pt x="2397331" y="88137"/>
                  </a:lnTo>
                  <a:lnTo>
                    <a:pt x="0" y="88137"/>
                  </a:lnTo>
                  <a:close/>
                </a:path>
              </a:pathLst>
            </a:custGeom>
            <a:gradFill rotWithShape="1">
              <a:gsLst>
                <a:gs pos="0">
                  <a:srgbClr val="CBA96B">
                    <a:alpha val="44000"/>
                  </a:srgbClr>
                </a:gs>
                <a:gs pos="100000">
                  <a:srgbClr val="EDD5AB">
                    <a:alpha val="4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0" y="-19050"/>
              <a:ext cx="2397331" cy="1071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224" name="TextBox 224"/>
          <p:cNvSpPr txBox="1"/>
          <p:nvPr/>
        </p:nvSpPr>
        <p:spPr>
          <a:xfrm>
            <a:off x="6584284" y="799034"/>
            <a:ext cx="2204117" cy="244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Configuration of PAC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6469983" y="1066027"/>
            <a:ext cx="5701508" cy="159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Five-stage centrifugal compressor.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Intercooler between 1st and 2nd stage.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Intercooler between 2nd and 3rd stage.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Intercooler  between 3rd and 4th stage.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Steam Turbine, Process Air Compressor, and Expander are mounted on a common shaft.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Inlet Guide Vanes (IGV) provided for flow control.</a:t>
            </a:r>
          </a:p>
        </p:txBody>
      </p:sp>
      <p:grpSp>
        <p:nvGrpSpPr>
          <p:cNvPr id="226" name="Group 226"/>
          <p:cNvGrpSpPr/>
          <p:nvPr/>
        </p:nvGrpSpPr>
        <p:grpSpPr>
          <a:xfrm>
            <a:off x="6171220" y="4739060"/>
            <a:ext cx="6068245" cy="223097"/>
            <a:chOff x="0" y="0"/>
            <a:chExt cx="2397331" cy="88137"/>
          </a:xfrm>
        </p:grpSpPr>
        <p:sp>
          <p:nvSpPr>
            <p:cNvPr id="227" name="Freeform 227"/>
            <p:cNvSpPr/>
            <p:nvPr/>
          </p:nvSpPr>
          <p:spPr>
            <a:xfrm>
              <a:off x="0" y="0"/>
              <a:ext cx="2397331" cy="88137"/>
            </a:xfrm>
            <a:custGeom>
              <a:avLst/>
              <a:gdLst/>
              <a:ahLst/>
              <a:cxnLst/>
              <a:rect l="l" t="t" r="r" b="b"/>
              <a:pathLst>
                <a:path w="2397331" h="88137">
                  <a:moveTo>
                    <a:pt x="0" y="0"/>
                  </a:moveTo>
                  <a:lnTo>
                    <a:pt x="2397331" y="0"/>
                  </a:lnTo>
                  <a:lnTo>
                    <a:pt x="2397331" y="88137"/>
                  </a:lnTo>
                  <a:lnTo>
                    <a:pt x="0" y="88137"/>
                  </a:lnTo>
                  <a:close/>
                </a:path>
              </a:pathLst>
            </a:custGeom>
            <a:gradFill rotWithShape="1">
              <a:gsLst>
                <a:gs pos="0">
                  <a:srgbClr val="CBA96B">
                    <a:alpha val="44000"/>
                  </a:srgbClr>
                </a:gs>
                <a:gs pos="100000">
                  <a:srgbClr val="EDD5AB">
                    <a:alpha val="44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8" name="TextBox 228"/>
            <p:cNvSpPr txBox="1"/>
            <p:nvPr/>
          </p:nvSpPr>
          <p:spPr>
            <a:xfrm>
              <a:off x="0" y="-19050"/>
              <a:ext cx="2397331" cy="1071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99"/>
                </a:lnSpc>
              </a:pPr>
              <a:endParaRPr sz="1200"/>
            </a:p>
          </p:txBody>
        </p:sp>
      </p:grpSp>
      <p:sp>
        <p:nvSpPr>
          <p:cNvPr id="229" name="TextBox 229"/>
          <p:cNvSpPr txBox="1"/>
          <p:nvPr/>
        </p:nvSpPr>
        <p:spPr>
          <a:xfrm>
            <a:off x="6469984" y="4993152"/>
            <a:ext cx="5180707" cy="136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During start-up, the compressor is driven by an electric motor.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During normal operation, the compressor is driven by a steam turbine and expander.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turbine-expander arrangement enables energy recovery and utilization.</a:t>
            </a:r>
          </a:p>
          <a:p>
            <a:pPr marL="273484" lvl="1" indent="-136742">
              <a:lnSpc>
                <a:spcPts val="1773"/>
              </a:lnSpc>
              <a:buFont typeface="Arial"/>
              <a:buChar char="•"/>
            </a:pPr>
            <a:r>
              <a:rPr lang="en-US" sz="1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arrangement improves plant energy efficiency.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6584283" y="4702442"/>
            <a:ext cx="2910469" cy="244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Compressor Drive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B51510-24E0-E510-DED9-5623088EC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710A8A-760B-8294-099A-40B3B872A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8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8944"/>
            <a:ext cx="12192000" cy="578819"/>
            <a:chOff x="0" y="0"/>
            <a:chExt cx="4816593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8669"/>
            </a:xfrm>
            <a:custGeom>
              <a:avLst/>
              <a:gdLst/>
              <a:ahLst/>
              <a:cxnLst/>
              <a:rect l="l" t="t" r="r" b="b"/>
              <a:pathLst>
                <a:path w="4816592" h="228669">
                  <a:moveTo>
                    <a:pt x="0" y="0"/>
                  </a:moveTo>
                  <a:lnTo>
                    <a:pt x="4816592" y="0"/>
                  </a:lnTo>
                  <a:lnTo>
                    <a:pt x="481659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25839" y="98942"/>
            <a:ext cx="9740323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of Rated and Calculated Compressor Performance Data :</a:t>
            </a:r>
          </a:p>
        </p:txBody>
      </p:sp>
      <p:sp>
        <p:nvSpPr>
          <p:cNvPr id="6" name="AutoShape 6"/>
          <p:cNvSpPr/>
          <p:nvPr/>
        </p:nvSpPr>
        <p:spPr>
          <a:xfrm flipH="1" flipV="1">
            <a:off x="6177569" y="954907"/>
            <a:ext cx="27173" cy="54606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85800" y="1382736"/>
          <a:ext cx="5023114" cy="2638644"/>
        </p:xfrm>
        <a:graphic>
          <a:graphicData uri="http://schemas.openxmlformats.org/drawingml/2006/table">
            <a:tbl>
              <a:tblPr/>
              <a:tblGrid>
                <a:gridCol w="754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Pin (bar a)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Pout (bar a)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Tin (C)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Tout (C)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1st 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2.319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45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145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2nd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2.319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4.45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40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120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3rd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4.43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8.19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105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4th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8.19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12.25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5th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12.25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18.3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85800" y="3967051"/>
          <a:ext cx="5023114" cy="2629284"/>
        </p:xfrm>
        <a:graphic>
          <a:graphicData uri="http://schemas.openxmlformats.org/drawingml/2006/table">
            <a:tbl>
              <a:tblPr/>
              <a:tblGrid>
                <a:gridCol w="755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2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Kin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Kout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Zin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Zout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641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1st 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1.398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1.3938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.9996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1.0003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641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2nd</a:t>
                      </a:r>
                      <a:endParaRPr lang="en-US" sz="11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1.4009</a:t>
                      </a:r>
                      <a:endParaRPr lang="en-US" sz="11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1.3978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.9993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41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3rd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1.4059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1.4043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.9988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1.0007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41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4th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1.4107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1.4099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.9984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41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5th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1.4099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1.4081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11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1.0041</a:t>
                      </a:r>
                      <a:endParaRPr lang="en-US" sz="11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2789967" y="923157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24907" y="923157"/>
            <a:ext cx="1355520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866341" y="1382736"/>
          <a:ext cx="5023114" cy="2638644"/>
        </p:xfrm>
        <a:graphic>
          <a:graphicData uri="http://schemas.openxmlformats.org/drawingml/2006/table">
            <a:tbl>
              <a:tblPr/>
              <a:tblGrid>
                <a:gridCol w="754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Pin (bar a)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Pout (bar a)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Tin (C)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Tout (C)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1st 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0.9932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2.34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34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138.3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2nd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2.3432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4.44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55.8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140.8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3rd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4.4432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7.3532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39.9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107.9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4th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7.3532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12.3932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43.8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106.8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74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5th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13.05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18.3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106.8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866341" y="3967051"/>
          <a:ext cx="5023114" cy="2629284"/>
        </p:xfrm>
        <a:graphic>
          <a:graphicData uri="http://schemas.openxmlformats.org/drawingml/2006/table">
            <a:tbl>
              <a:tblPr/>
              <a:tblGrid>
                <a:gridCol w="755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553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Kin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Kout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Zin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Zout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633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1st 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1.3938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.9996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1.0003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633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2nd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1.4009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1.3978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.9993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33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3rd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1.4059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1.4043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.9988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1.0007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33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4th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1.4107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1.4099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.9984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33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5th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1.4099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1.4081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12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1.0041</a:t>
                      </a:r>
                      <a:endParaRPr lang="en-US" sz="12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5;p13">
            <a:extLst>
              <a:ext uri="{FF2B5EF4-FFF2-40B4-BE49-F238E27FC236}">
                <a16:creationId xmlns:a16="http://schemas.microsoft.com/office/drawing/2014/main" id="{D76E7942-5BFD-9F61-2601-D7A22330F3A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2057" y="-1016001"/>
            <a:ext cx="12961257" cy="8411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F86738-9334-C290-442E-A4D112A67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000" y="469489"/>
            <a:ext cx="8987139" cy="6134873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E444B3AB-CCCB-EDC1-7B42-B855380FBB18}"/>
              </a:ext>
            </a:extLst>
          </p:cNvPr>
          <p:cNvSpPr txBox="1"/>
          <p:nvPr/>
        </p:nvSpPr>
        <p:spPr>
          <a:xfrm>
            <a:off x="1298409" y="85025"/>
            <a:ext cx="9740323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Screenshot</a:t>
            </a:r>
          </a:p>
        </p:txBody>
      </p:sp>
    </p:spTree>
    <p:extLst>
      <p:ext uri="{BB962C8B-B14F-4D97-AF65-F5344CB8AC3E}">
        <p14:creationId xmlns:p14="http://schemas.microsoft.com/office/powerpoint/2010/main" val="2161098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8944"/>
            <a:ext cx="12192000" cy="578819"/>
            <a:chOff x="0" y="0"/>
            <a:chExt cx="4816593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8669"/>
            </a:xfrm>
            <a:custGeom>
              <a:avLst/>
              <a:gdLst/>
              <a:ahLst/>
              <a:cxnLst/>
              <a:rect l="l" t="t" r="r" b="b"/>
              <a:pathLst>
                <a:path w="4816592" h="228669">
                  <a:moveTo>
                    <a:pt x="0" y="0"/>
                  </a:moveTo>
                  <a:lnTo>
                    <a:pt x="4816592" y="0"/>
                  </a:lnTo>
                  <a:lnTo>
                    <a:pt x="481659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81637" y="102665"/>
            <a:ext cx="8228727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of Design and Calculated Inlet Air Conditions :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86512" y="1553924"/>
          <a:ext cx="5310966" cy="4075899"/>
        </p:xfrm>
        <a:graphic>
          <a:graphicData uri="http://schemas.openxmlformats.org/drawingml/2006/table">
            <a:tbl>
              <a:tblPr/>
              <a:tblGrid>
                <a:gridCol w="1894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158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Relative Humidity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60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%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43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Atomspheric Pressure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bar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407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Suction Pressure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99000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158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Temperaturein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45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676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Vapour Pressure of Water Vapour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9552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</a:t>
                      </a:r>
                      <a:endParaRPr lang="en-US" sz="12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676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Partial Pressure of Water Vapour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5731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Pa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43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Mole Fraction(Xw) of water in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0.05789</a:t>
                      </a:r>
                      <a:endParaRPr lang="en-US" sz="12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endParaRPr lang="en-US" sz="12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 flipH="1" flipV="1">
            <a:off x="6177569" y="954907"/>
            <a:ext cx="27173" cy="54606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585742" y="1553924"/>
          <a:ext cx="5021436" cy="3955990"/>
        </p:xfrm>
        <a:graphic>
          <a:graphicData uri="http://schemas.openxmlformats.org/drawingml/2006/table">
            <a:tbl>
              <a:tblPr/>
              <a:tblGrid>
                <a:gridCol w="1973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151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Relative Humidity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65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%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151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Atomspheric Pressure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0.9932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bar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151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     Suction Pressure</a:t>
                      </a:r>
                      <a:endParaRPr lang="en-US" sz="11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99320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</a:t>
                      </a:r>
                      <a:endParaRPr lang="en-US" sz="11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151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Temperaturein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34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53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Vapour Pressure of Water Vapour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5302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</a:t>
                      </a:r>
                      <a:endParaRPr lang="en-US" sz="11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46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Partial Pressure of Water Vapour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3446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Pa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255"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Mole Fraction(Xw) of water in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0.03470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endParaRPr lang="en-US" sz="11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2789967" y="923157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24907" y="923157"/>
            <a:ext cx="1382693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26369" y="1496572"/>
          <a:ext cx="11329648" cy="4855364"/>
        </p:xfrm>
        <a:graphic>
          <a:graphicData uri="http://schemas.openxmlformats.org/drawingml/2006/table">
            <a:tbl>
              <a:tblPr/>
              <a:tblGrid>
                <a:gridCol w="1181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5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7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47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29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201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005280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Stage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Xwin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Pin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Tin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Pstageout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6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300" b="1" u="none" strike="noStrik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Tstageout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Pcoolerstage,out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Tcoolerstage,out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V.Pstage out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Xwout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Remarks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644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0.05789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45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2.32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145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2.319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40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7352.789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0.03171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Condensation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12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 dirty="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0.03171</a:t>
                      </a:r>
                      <a:endParaRPr lang="en-US" sz="7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2.319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40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120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6969.77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.01573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Condensation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376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0.01573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8.19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105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7.81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12296.2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.01501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Condensation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0.01501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8.19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12.25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12.25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129570.3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.01501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No Condensation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0.01501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13.05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511403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.01501</a:t>
                      </a:r>
                      <a:endParaRPr lang="en-US" sz="700" b="1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Condensation</a:t>
                      </a:r>
                      <a:endParaRPr lang="en-US" sz="700" b="1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-81568" y="51335"/>
            <a:ext cx="12355138" cy="578819"/>
            <a:chOff x="0" y="0"/>
            <a:chExt cx="4881042" cy="228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8944"/>
            <a:ext cx="12355138" cy="578819"/>
            <a:chOff x="0" y="0"/>
            <a:chExt cx="4881042" cy="228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61288" y="102665"/>
            <a:ext cx="9059811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Stage-wise Water Vapour Mole Fraction Analysis (Design Case)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3230" y="789436"/>
            <a:ext cx="1153170" cy="385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FE3C1-0720-8D69-0D9C-8C18B9E0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5;p13">
            <a:extLst>
              <a:ext uri="{FF2B5EF4-FFF2-40B4-BE49-F238E27FC236}">
                <a16:creationId xmlns:a16="http://schemas.microsoft.com/office/drawing/2014/main" id="{AD923175-2D9E-0E09-AC3F-10FAD8FA199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2057" y="-1016001"/>
            <a:ext cx="12961257" cy="8411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0B0887F4-17BD-1844-B359-287FF38C05E8}"/>
              </a:ext>
            </a:extLst>
          </p:cNvPr>
          <p:cNvSpPr txBox="1"/>
          <p:nvPr/>
        </p:nvSpPr>
        <p:spPr>
          <a:xfrm>
            <a:off x="1298409" y="85025"/>
            <a:ext cx="9740323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FD8A3F-3FD4-04E2-2FD7-526B34AFF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8" y="683113"/>
            <a:ext cx="11341607" cy="549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84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568" y="51335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8944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81637" y="98942"/>
            <a:ext cx="9428727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Stage-wise Water Vapour Mole Fraction Analysis (Calculated Case)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15188" y="721548"/>
            <a:ext cx="1847612" cy="387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66"/>
              </a:lnSpc>
              <a:spcBef>
                <a:spcPct val="0"/>
              </a:spcBef>
            </a:pPr>
            <a:r>
              <a:rPr lang="en-US" sz="24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26369" y="1496572"/>
          <a:ext cx="11370538" cy="4570270"/>
        </p:xfrm>
        <a:graphic>
          <a:graphicData uri="http://schemas.openxmlformats.org/drawingml/2006/table">
            <a:tbl>
              <a:tblPr/>
              <a:tblGrid>
                <a:gridCol w="118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95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92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28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11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005280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Xw,in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P,in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T,in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Pstageout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Tstageout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Pcoolerstage,out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Tcoolerstage,out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VP stage out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Xw,out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Remarks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644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0.03470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138.3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2.3432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16301.2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0.03470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12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0.03470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2.3432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140.8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4.4432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39.9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7313.687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0.01646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376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0.01646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4.4432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39.9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7.3532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107.9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7.81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8978.649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7.3532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12.3932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106.8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12.3932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106.8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128698.1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13.05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106.8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511403.4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4"/>
                        </a:lnSpc>
                        <a:defRPr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Condensation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56BA1-C8ED-EF95-D92A-B3370530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5;p13">
            <a:extLst>
              <a:ext uri="{FF2B5EF4-FFF2-40B4-BE49-F238E27FC236}">
                <a16:creationId xmlns:a16="http://schemas.microsoft.com/office/drawing/2014/main" id="{06871FD9-9CA5-8543-6853-03FAF10640A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2057" y="-1016001"/>
            <a:ext cx="12961257" cy="8411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8C64644C-79DE-EC12-0758-868997C1D6E5}"/>
              </a:ext>
            </a:extLst>
          </p:cNvPr>
          <p:cNvSpPr txBox="1"/>
          <p:nvPr/>
        </p:nvSpPr>
        <p:spPr>
          <a:xfrm>
            <a:off x="1298409" y="85025"/>
            <a:ext cx="9740323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BD3D0E-DB21-CDE4-58C2-AAA3F5192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40" y="469489"/>
            <a:ext cx="9329059" cy="59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7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26369" y="1496573"/>
          <a:ext cx="11329648" cy="4310609"/>
        </p:xfrm>
        <a:graphic>
          <a:graphicData uri="http://schemas.openxmlformats.org/drawingml/2006/table">
            <a:tbl>
              <a:tblPr/>
              <a:tblGrid>
                <a:gridCol w="1763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19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5802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Xw,in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Xw,out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Remarks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8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Water In (kmol/hr)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8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Water Out (kmol/hr)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8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Water Condensed (kg/hr)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245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0.05789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0.03171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1C1D1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1039.725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554.026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8742.6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245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0.03171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.01573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1C1D1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554.026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270.451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5104.4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0.01573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.01501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1C1D1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270.451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8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257.895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226.0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317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0.01501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.01501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No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257.895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257.895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317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0.01501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.01501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257.895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257.895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-81568" y="51335"/>
            <a:ext cx="12355138" cy="578819"/>
            <a:chOff x="0" y="0"/>
            <a:chExt cx="4881042" cy="228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8944"/>
            <a:ext cx="12355138" cy="578819"/>
            <a:chOff x="0" y="0"/>
            <a:chExt cx="4881042" cy="228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71005" y="98942"/>
            <a:ext cx="6649991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Case - Stage-wise Water Condensation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3230" y="789436"/>
            <a:ext cx="1254770" cy="385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85800" y="1780779"/>
          <a:ext cx="5284380" cy="4029204"/>
        </p:xfrm>
        <a:graphic>
          <a:graphicData uri="http://schemas.openxmlformats.org/drawingml/2006/table">
            <a:tbl>
              <a:tblPr/>
              <a:tblGrid>
                <a:gridCol w="128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077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Mw of water from 5th stage discharge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28.80264542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g/mol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82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Moles of Wet Air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17959.16229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Kmole/hr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510.0402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2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moles of dry air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16919.43686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kmole/hr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480.512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77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Mass of water in air at suction condition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29.5282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-44354" y="82185"/>
            <a:ext cx="12355138" cy="578819"/>
            <a:chOff x="0" y="0"/>
            <a:chExt cx="4881042" cy="2286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8944"/>
            <a:ext cx="12355138" cy="578819"/>
            <a:chOff x="0" y="0"/>
            <a:chExt cx="4881042" cy="2286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9493" y="125056"/>
            <a:ext cx="11374747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of Mass of Water in Air at Suction Condition (Design vs. Calculated) :</a:t>
            </a:r>
          </a:p>
        </p:txBody>
      </p:sp>
      <p:sp>
        <p:nvSpPr>
          <p:cNvPr id="10" name="AutoShape 10"/>
          <p:cNvSpPr/>
          <p:nvPr/>
        </p:nvSpPr>
        <p:spPr>
          <a:xfrm flipH="1" flipV="1">
            <a:off x="6177569" y="954907"/>
            <a:ext cx="27173" cy="54606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526184" y="1780779"/>
          <a:ext cx="5284381" cy="4029204"/>
        </p:xfrm>
        <a:graphic>
          <a:graphicData uri="http://schemas.openxmlformats.org/drawingml/2006/table">
            <a:tbl>
              <a:tblPr/>
              <a:tblGrid>
                <a:gridCol w="1263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7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9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077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Mw of water from 5th stage discharge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28.8333313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g/mol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82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Moles of Wet Air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18662.46449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Kmole/hr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530.014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2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moles of dry air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18014.88983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kmole/hr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511.6229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775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Mass of water in air at suction condition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---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18.39113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2789967" y="923157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4907" y="923157"/>
            <a:ext cx="1179493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568" y="51335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8944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16918" y="125056"/>
            <a:ext cx="7558164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 Case - Stage-wise Water Condensation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15188" y="721548"/>
            <a:ext cx="1695212" cy="385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66"/>
              </a:lnSpc>
              <a:spcBef>
                <a:spcPct val="0"/>
              </a:spcBef>
            </a:pPr>
            <a:r>
              <a:rPr lang="en-US" sz="2333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26369" y="1496572"/>
          <a:ext cx="11370538" cy="4380681"/>
        </p:xfrm>
        <a:graphic>
          <a:graphicData uri="http://schemas.openxmlformats.org/drawingml/2006/table">
            <a:tbl>
              <a:tblPr/>
              <a:tblGrid>
                <a:gridCol w="176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0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0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76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5802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Xw,in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Xw,out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Remarks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In (kmol/hr)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Out (kmol/hr)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(kg/hr)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317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0.03470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0.03470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8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647.575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647.575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245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0.03470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0.01646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647.575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301.495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6229.4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0.01646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301.495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8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222.691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1418.5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317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222.691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222.691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317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.01221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222.691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222.691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26" y="225659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74" y="106981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1562" y="185077"/>
            <a:ext cx="11428877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of Stage-wise Water Condensation Across Intercoolers (Design vs. Calculated) :   </a:t>
            </a:r>
          </a:p>
        </p:txBody>
      </p:sp>
      <p:sp>
        <p:nvSpPr>
          <p:cNvPr id="9" name="AutoShape 9"/>
          <p:cNvSpPr/>
          <p:nvPr/>
        </p:nvSpPr>
        <p:spPr>
          <a:xfrm flipH="1" flipV="1">
            <a:off x="6177569" y="954907"/>
            <a:ext cx="27173" cy="54606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TextBox 10"/>
          <p:cNvSpPr txBox="1"/>
          <p:nvPr/>
        </p:nvSpPr>
        <p:spPr>
          <a:xfrm>
            <a:off x="7778639" y="1471226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44232" y="2088569"/>
          <a:ext cx="4671462" cy="3536735"/>
        </p:xfrm>
        <a:graphic>
          <a:graphicData uri="http://schemas.openxmlformats.org/drawingml/2006/table">
            <a:tbl>
              <a:tblPr/>
              <a:tblGrid>
                <a:gridCol w="2415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06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Condensation in 1st stage(E-116)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8.75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06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Condensation in 2nd stage(E-117)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5.11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9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Condensation in 3rd stage(E-118)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06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Water Condensed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14.0886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06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Remaining Water in air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06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Remaining air Flow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496.0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2210687" y="1471226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89967" y="923157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5877" y="937755"/>
            <a:ext cx="1417723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697862" y="2088569"/>
          <a:ext cx="4671462" cy="3642288"/>
        </p:xfrm>
        <a:graphic>
          <a:graphicData uri="http://schemas.openxmlformats.org/drawingml/2006/table">
            <a:tbl>
              <a:tblPr/>
              <a:tblGrid>
                <a:gridCol w="2415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93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Condensation in 1st stage(E-116)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93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Condensation in 2nd stage(E-117)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6.24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26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Condensation in 3rd stage(E-118)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60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Water Condensed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7.6564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60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Remaining Water in air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10.7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93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Remaining air Flow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522.4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67051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74" y="106981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980" y="159889"/>
            <a:ext cx="8444040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Stage-wise Compressor Efficiency Analysis (Design Case)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1004" y="1384760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43972" y="835436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01135" y="2053627"/>
          <a:ext cx="10268191" cy="3537480"/>
        </p:xfrm>
        <a:graphic>
          <a:graphicData uri="http://schemas.openxmlformats.org/drawingml/2006/table">
            <a:tbl>
              <a:tblPr/>
              <a:tblGrid>
                <a:gridCol w="165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14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14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95139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Efficiency(%)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Kavg.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Pout/Pin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(K-1)/K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Tout/Tin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Zout/Zin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898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88.1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2.342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0.284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1.314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0.99685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117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80.5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1.39935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1.910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0.285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1.256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395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84.4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1.4051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1.763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0.288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1.212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33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1.4103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1.593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1.176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1.00280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898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83.8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1.121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1.00290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116" y="181799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74" y="106981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97634" y="159889"/>
            <a:ext cx="8814217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Stage-wise Compressor Efficiency Analysis (Calculated Case)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1004" y="1384760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38291" y="835436"/>
            <a:ext cx="1319709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206604" y="2062312"/>
          <a:ext cx="10268191" cy="3537480"/>
        </p:xfrm>
        <a:graphic>
          <a:graphicData uri="http://schemas.openxmlformats.org/drawingml/2006/table">
            <a:tbl>
              <a:tblPr/>
              <a:tblGrid>
                <a:gridCol w="165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14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14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95139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Kavg.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Pout/Pin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(K-1)/K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Tout/Tin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Zout/Zin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Efficiency(%)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898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2.359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0.284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1.340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0.99685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84.2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117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1.39935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1.896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0.285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1.256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78.8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503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1.4051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1.758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0.288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1.217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81.9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925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1.4103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1.685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1.199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1.00280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898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1.402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1.22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1.00290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83.4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14331-6978-8677-791D-D4CD5CE6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5;p13">
            <a:extLst>
              <a:ext uri="{FF2B5EF4-FFF2-40B4-BE49-F238E27FC236}">
                <a16:creationId xmlns:a16="http://schemas.microsoft.com/office/drawing/2014/main" id="{2F6AABA5-3895-A8FE-92F1-A713D76A357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2057" y="-1016001"/>
            <a:ext cx="12961257" cy="8411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285EDDB1-60E1-985B-626A-3108928DD220}"/>
              </a:ext>
            </a:extLst>
          </p:cNvPr>
          <p:cNvSpPr txBox="1"/>
          <p:nvPr/>
        </p:nvSpPr>
        <p:spPr>
          <a:xfrm>
            <a:off x="1298409" y="85025"/>
            <a:ext cx="9740323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Screenshot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351CC-2A2D-DFE0-D27E-EE6E24587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947" y="487576"/>
            <a:ext cx="7340909" cy="588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4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3901B-FCD4-26DF-95B6-90BD24BFA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5;p13">
            <a:extLst>
              <a:ext uri="{FF2B5EF4-FFF2-40B4-BE49-F238E27FC236}">
                <a16:creationId xmlns:a16="http://schemas.microsoft.com/office/drawing/2014/main" id="{D0B38212-D5B5-CEDF-BF12-C6757C42DDA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2057" y="-1016001"/>
            <a:ext cx="12961257" cy="8411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103ACABB-253C-C0DE-A546-60AD6413AEE8}"/>
              </a:ext>
            </a:extLst>
          </p:cNvPr>
          <p:cNvSpPr txBox="1"/>
          <p:nvPr/>
        </p:nvSpPr>
        <p:spPr>
          <a:xfrm>
            <a:off x="1298409" y="85025"/>
            <a:ext cx="9740323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Screenshot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D4DF79-E47A-B802-02F5-5D94D372A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18" y="873829"/>
            <a:ext cx="10765471" cy="492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35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749" y="196547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74" y="106981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1370" y="180702"/>
            <a:ext cx="9023985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Stage-wise Polytropic and Actual Power Analysis (Design Case) 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1004" y="1384760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43972" y="835436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01135" y="2053628"/>
          <a:ext cx="10564456" cy="3556458"/>
        </p:xfrm>
        <a:graphic>
          <a:graphicData uri="http://schemas.openxmlformats.org/drawingml/2006/table">
            <a:tbl>
              <a:tblPr/>
              <a:tblGrid>
                <a:gridCol w="1350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0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0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1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52499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Actual Power(MW)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Polytopic Power(KW)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Polytropic exponent, 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n/(n-1)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Mw inlet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Tin(K)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AirFlow(Kg/s)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14.43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12891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1.4665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3.149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28.33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0.9996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318.15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141.34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11.42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9188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1.549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2.820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28.62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0.9993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313.15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138.91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31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9.18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7744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1.519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2.926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28.79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0.9988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312.15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137.49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7.91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6484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1.550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2.818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28.80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0.9984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323.15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137.43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6.47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5416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1.530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2.886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28.80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380.15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137.43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24" y="167051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74" y="106981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60680" y="159889"/>
            <a:ext cx="9587151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Stage-wise Polytropic and Actual Power Analysis (Calculated Case) 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1004" y="1384760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38291" y="835436"/>
            <a:ext cx="1268909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01135" y="2053628"/>
          <a:ext cx="10564456" cy="3556458"/>
        </p:xfrm>
        <a:graphic>
          <a:graphicData uri="http://schemas.openxmlformats.org/drawingml/2006/table">
            <a:tbl>
              <a:tblPr/>
              <a:tblGrid>
                <a:gridCol w="1350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0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0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1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52499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Polytropic exponent, 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n/(n-1)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Mw inlet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Zin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Tin(K)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AirFlow(Kg/s)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Polytopic Power(KW)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Actual Power(MW)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1.508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2.967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28.59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0.9996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307.15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148.20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13172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15.65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1.568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2.760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28.59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0.9993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328.95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148.20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10202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12.95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31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1.543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2.841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28.79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0.9988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313.05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146.46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8252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10.08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1.545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2.834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28.83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0.9984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316.95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146.07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7639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9.26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47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1.534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2.873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28.83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1.0012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379.95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146.07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5749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6.89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7544" y="106981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CBA96B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74" y="106981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619255" y="159889"/>
            <a:ext cx="1401564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Findings : 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03711" y="846427"/>
          <a:ext cx="11184580" cy="6343759"/>
        </p:xfrm>
        <a:graphic>
          <a:graphicData uri="http://schemas.openxmlformats.org/drawingml/2006/table">
            <a:tbl>
              <a:tblPr/>
              <a:tblGrid>
                <a:gridCol w="260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0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733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Efficiency Observation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Result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Conclusion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14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Design: </a:t>
                      </a:r>
                      <a:r>
                        <a:rPr lang="en-US" sz="1300" b="1">
                          <a:solidFill>
                            <a:srgbClr val="1C1D1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88.1%</a:t>
                      </a:r>
                      <a:endParaRPr lang="en-US" sz="700"/>
                    </a:p>
                    <a:p>
                      <a:pPr algn="ctr">
                        <a:lnSpc>
                          <a:spcPts val="2764"/>
                        </a:lnSpc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Actual:</a:t>
                      </a:r>
                      <a:r>
                        <a:rPr lang="en-US" sz="1300" b="1">
                          <a:solidFill>
                            <a:srgbClr val="1C1D1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84.2%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3.9%</a:t>
                      </a: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efficiency reduction.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Highest performance deterioration; priority for improvement.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914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80.5%</a:t>
                      </a:r>
                      <a:endParaRPr lang="en-US" sz="700"/>
                    </a:p>
                    <a:p>
                      <a:pPr algn="ctr">
                        <a:lnSpc>
                          <a:spcPts val="2764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Actual: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78.8%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1.7%</a:t>
                      </a: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efficiency reduction.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Indicates higher thermodynamic losses and requires performance optimization.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914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Design: </a:t>
                      </a:r>
                      <a:r>
                        <a:rPr lang="en-US" sz="1300" b="1">
                          <a:solidFill>
                            <a:srgbClr val="1C1D1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84.4%</a:t>
                      </a:r>
                      <a:endParaRPr lang="en-US" sz="700"/>
                    </a:p>
                    <a:p>
                      <a:pPr algn="ctr">
                        <a:lnSpc>
                          <a:spcPts val="2764"/>
                        </a:lnSpc>
                      </a:pPr>
                      <a:r>
                        <a:rPr lang="en-US" sz="1300">
                          <a:solidFill>
                            <a:srgbClr val="1C1D1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Actual: </a:t>
                      </a:r>
                      <a:r>
                        <a:rPr lang="en-US" sz="1300" b="1">
                          <a:solidFill>
                            <a:srgbClr val="1C1D1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81.9%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2.5% </a:t>
                      </a: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efficiency reduction.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Moderate performance deterioration.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733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82.0%</a:t>
                      </a:r>
                      <a:endParaRPr lang="en-US" sz="700"/>
                    </a:p>
                    <a:p>
                      <a:pPr algn="ctr">
                        <a:lnSpc>
                          <a:spcPts val="2764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Actual: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82.5%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0.5% </a:t>
                      </a: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efficiency improvement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Operating close to design conditions.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914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83.8%</a:t>
                      </a:r>
                      <a:endParaRPr lang="en-US" sz="700"/>
                    </a:p>
                    <a:p>
                      <a:pPr algn="ctr">
                        <a:lnSpc>
                          <a:spcPts val="2764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Actual: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83.4%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0.4% </a:t>
                      </a: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efficiency reduction.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Stable compressor performance.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8293"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 PAC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83.76%</a:t>
                      </a:r>
                      <a:endParaRPr lang="en-US" sz="700"/>
                    </a:p>
                    <a:p>
                      <a:pPr algn="ctr">
                        <a:lnSpc>
                          <a:spcPts val="2764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Actual: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82.16%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4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1.6%</a:t>
                      </a: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overall efficiency reduction.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8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Performance degradation is mainly concentrated in </a:t>
                      </a:r>
                      <a:r>
                        <a:rPr lang="en-US" sz="13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Stages 1–3</a:t>
                      </a:r>
                      <a:r>
                        <a:rPr lang="en-US" sz="1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.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104337"/>
            <a:ext cx="12199086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345320" y="180702"/>
            <a:ext cx="3206750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the table : </a:t>
            </a:r>
          </a:p>
        </p:txBody>
      </p:sp>
      <p:sp>
        <p:nvSpPr>
          <p:cNvPr id="9" name="AutoShape 9"/>
          <p:cNvSpPr/>
          <p:nvPr/>
        </p:nvSpPr>
        <p:spPr>
          <a:xfrm flipH="1" flipV="1">
            <a:off x="6177569" y="954907"/>
            <a:ext cx="27173" cy="54606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TextBox 10"/>
          <p:cNvSpPr txBox="1"/>
          <p:nvPr/>
        </p:nvSpPr>
        <p:spPr>
          <a:xfrm>
            <a:off x="7849525" y="1473272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28257" y="1439624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89967" y="923157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35877" y="937755"/>
            <a:ext cx="1519323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371875" y="2744502"/>
          <a:ext cx="5617247" cy="3731768"/>
        </p:xfrm>
        <a:graphic>
          <a:graphicData uri="http://schemas.openxmlformats.org/drawingml/2006/table">
            <a:tbl>
              <a:tblPr/>
              <a:tblGrid>
                <a:gridCol w="75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0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9156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Air Flow(kg/s)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Actual power</a:t>
                      </a:r>
                      <a:endParaRPr lang="en-US" sz="700"/>
                    </a:p>
                    <a:p>
                      <a:pPr algn="ctr">
                        <a:lnSpc>
                          <a:spcPts val="2064"/>
                        </a:lnSpc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(MW)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Efficiency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condensation</a:t>
                      </a:r>
                      <a:endParaRPr lang="en-US" sz="700"/>
                    </a:p>
                    <a:p>
                      <a:pPr algn="ctr">
                        <a:lnSpc>
                          <a:spcPts val="2064"/>
                        </a:lnSpc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(Kg/hr)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Polytropic power(KW)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257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141.34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14.67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8742.6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12917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23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138.91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11.42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80.5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5104.4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9188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23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137.49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9.18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84.4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226.00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7744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23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137.43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7.91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6484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23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137.43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6.47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5416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395242" y="2744502"/>
          <a:ext cx="5617247" cy="3465068"/>
        </p:xfrm>
        <a:graphic>
          <a:graphicData uri="http://schemas.openxmlformats.org/drawingml/2006/table">
            <a:tbl>
              <a:tblPr/>
              <a:tblGrid>
                <a:gridCol w="75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0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5651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condensation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Air Flow(kg/s)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Polytropic power(KW)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Actual power</a:t>
                      </a:r>
                      <a:endParaRPr lang="en-US" sz="700"/>
                    </a:p>
                    <a:p>
                      <a:pPr algn="ctr">
                        <a:lnSpc>
                          <a:spcPts val="2064"/>
                        </a:lnSpc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(MW)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Efficiency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30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148.20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13172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15.65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84.2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30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6229.4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148.20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10202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12.95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78.8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30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1418.5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146.46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8252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10.08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FF313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81.9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30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146.07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7639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9.26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82.5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30"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146.07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5749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6.89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4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106981"/>
            <a:ext cx="12186087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94023" y="180702"/>
            <a:ext cx="5621437" cy="3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stage water condensation :  </a:t>
            </a:r>
          </a:p>
        </p:txBody>
      </p:sp>
      <p:sp>
        <p:nvSpPr>
          <p:cNvPr id="9" name="AutoShape 9"/>
          <p:cNvSpPr/>
          <p:nvPr/>
        </p:nvSpPr>
        <p:spPr>
          <a:xfrm flipH="1" flipV="1">
            <a:off x="6177569" y="954907"/>
            <a:ext cx="27173" cy="54606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603527" y="2088569"/>
          <a:ext cx="4580119" cy="3053815"/>
        </p:xfrm>
        <a:graphic>
          <a:graphicData uri="http://schemas.openxmlformats.org/drawingml/2006/table">
            <a:tbl>
              <a:tblPr/>
              <a:tblGrid>
                <a:gridCol w="232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1st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2nd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6229.4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3rd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1418.5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4th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5th stage 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7778639" y="1471226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35575" y="2088569"/>
          <a:ext cx="4580119" cy="3053815"/>
        </p:xfrm>
        <a:graphic>
          <a:graphicData uri="http://schemas.openxmlformats.org/drawingml/2006/table">
            <a:tbl>
              <a:tblPr/>
              <a:tblGrid>
                <a:gridCol w="232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1st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8742.6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2nd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5104.4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3rd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226.00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4th stage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76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Water condensed in 5th stage 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kg/hr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2210687" y="1471226"/>
            <a:ext cx="242747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Of all 5 stages 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89967" y="923157"/>
            <a:ext cx="704056" cy="26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35877" y="937755"/>
            <a:ext cx="1316123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234"/>
            <a:ext cx="12355138" cy="578819"/>
            <a:chOff x="0" y="0"/>
            <a:chExt cx="4881042" cy="228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091049" y="180702"/>
            <a:ext cx="1625124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Plans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1096302"/>
            <a:ext cx="10789533" cy="4989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Shell-Side and Tube-Side Heat Balance Evaluation of </a:t>
            </a:r>
            <a:r>
              <a:rPr lang="en-US" sz="1666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intercoller</a:t>
            </a:r>
            <a:r>
              <a:rPr lang="en-US" sz="16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>
              <a:lnSpc>
                <a:spcPts val="2333"/>
              </a:lnSpc>
            </a:pPr>
            <a:endParaRPr lang="en-US" sz="166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Determination of the Polytropic Exponent of the PAC Compressor in PTA-5/6.</a:t>
            </a:r>
          </a:p>
          <a:p>
            <a:pPr algn="just">
              <a:lnSpc>
                <a:spcPts val="2333"/>
              </a:lnSpc>
            </a:pPr>
            <a:endParaRPr lang="en-US" sz="16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Polytropic Power Calculation of the PAC Compressor in PTA-5/6.</a:t>
            </a:r>
          </a:p>
          <a:p>
            <a:pPr algn="just">
              <a:lnSpc>
                <a:spcPts val="2333"/>
              </a:lnSpc>
            </a:pPr>
            <a:endParaRPr lang="en-US" sz="166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Actual Power Consumption Analysis of the PAC Compressor in PTA-5/6.</a:t>
            </a:r>
          </a:p>
          <a:p>
            <a:pPr algn="just">
              <a:lnSpc>
                <a:spcPts val="2333"/>
              </a:lnSpc>
            </a:pPr>
            <a:endParaRPr lang="en-US" sz="166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Find which factors affecting PAC compressor efficiency and how we can resolve it.</a:t>
            </a:r>
          </a:p>
          <a:p>
            <a:pPr algn="just">
              <a:lnSpc>
                <a:spcPts val="2333"/>
              </a:lnSpc>
            </a:pPr>
            <a:endParaRPr lang="en-US" sz="16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What are the major causes of efficiency losses in the PAC system.</a:t>
            </a:r>
          </a:p>
          <a:p>
            <a:pPr algn="just">
              <a:lnSpc>
                <a:spcPts val="2333"/>
              </a:lnSpc>
            </a:pPr>
            <a:endParaRPr lang="en-US" sz="166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Impact of suction conditions, cooling efficiency, and pressure drops on overall efficiency as well as Weather.</a:t>
            </a:r>
          </a:p>
          <a:p>
            <a:pPr algn="just">
              <a:lnSpc>
                <a:spcPts val="2333"/>
              </a:lnSpc>
            </a:pPr>
            <a:endParaRPr lang="en-US" sz="16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59851" lvl="1" indent="-179926" algn="just">
              <a:lnSpc>
                <a:spcPts val="2333"/>
              </a:lnSpc>
              <a:buFont typeface="Arial"/>
              <a:buChar char="•"/>
            </a:pPr>
            <a:r>
              <a:rPr lang="en-US" sz="166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 for improving PAC compressor performance and operational reliability.</a:t>
            </a:r>
          </a:p>
          <a:p>
            <a:pPr algn="just">
              <a:lnSpc>
                <a:spcPts val="2333"/>
              </a:lnSpc>
            </a:pPr>
            <a:r>
              <a:rPr lang="en-US" sz="16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2333"/>
              </a:lnSpc>
            </a:pPr>
            <a:endParaRPr lang="en-US" sz="16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81569" y="57421"/>
            <a:ext cx="12355138" cy="578819"/>
            <a:chOff x="0" y="0"/>
            <a:chExt cx="4881042" cy="228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1042" cy="228669"/>
            </a:xfrm>
            <a:custGeom>
              <a:avLst/>
              <a:gdLst/>
              <a:ahLst/>
              <a:cxnLst/>
              <a:rect l="l" t="t" r="r" b="b"/>
              <a:pathLst>
                <a:path w="4881042" h="228669">
                  <a:moveTo>
                    <a:pt x="0" y="0"/>
                  </a:moveTo>
                  <a:lnTo>
                    <a:pt x="4881042" y="0"/>
                  </a:lnTo>
                  <a:lnTo>
                    <a:pt x="4881042" y="228669"/>
                  </a:lnTo>
                  <a:lnTo>
                    <a:pt x="0" y="228669"/>
                  </a:lnTo>
                  <a:close/>
                </a:path>
              </a:pathLst>
            </a:custGeom>
            <a:solidFill>
              <a:srgbClr val="0D2E6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81042" cy="2572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00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06009" y="159889"/>
            <a:ext cx="2566391" cy="373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1017422"/>
            <a:ext cx="11043860" cy="36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1640" lvl="1" indent="-185820" algn="just">
              <a:lnSpc>
                <a:spcPts val="2409"/>
              </a:lnSpc>
              <a:spcBef>
                <a:spcPct val="0"/>
              </a:spcBef>
              <a:buFont typeface="Arial"/>
              <a:buChar char="•"/>
            </a:pP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Ensure proper installation, alignment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handling 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air seal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strips during maintenance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shutdown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activities to prevent damage and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air bypassing.</a:t>
            </a:r>
          </a:p>
          <a:p>
            <a:pPr marL="371640" lvl="1" indent="-185820" algn="just">
              <a:lnSpc>
                <a:spcPts val="2409"/>
              </a:lnSpc>
              <a:spcBef>
                <a:spcPct val="0"/>
              </a:spcBef>
              <a:buFont typeface="Arial"/>
              <a:buChar char="•"/>
            </a:pP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Carry out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periodic cleaning and inspection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finned tube bundles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maintain effective heat transfer performance.</a:t>
            </a:r>
          </a:p>
          <a:p>
            <a:pPr marL="371640" lvl="1" indent="-185820" algn="just">
              <a:lnSpc>
                <a:spcPts val="2409"/>
              </a:lnSpc>
              <a:spcBef>
                <a:spcPct val="0"/>
              </a:spcBef>
              <a:buFont typeface="Arial"/>
              <a:buChar char="•"/>
            </a:pP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Monitor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intercooler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outlet temperature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pressure drop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condensate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generation regularly to detect performance deterioration at an early stage.</a:t>
            </a:r>
          </a:p>
          <a:p>
            <a:pPr marL="371640" lvl="1" indent="-185820" algn="just">
              <a:lnSpc>
                <a:spcPts val="2409"/>
              </a:lnSpc>
              <a:spcBef>
                <a:spcPct val="0"/>
              </a:spcBef>
              <a:buFont typeface="Arial"/>
              <a:buChar char="•"/>
            </a:pP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Maintain adequate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cooling water flow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quality to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minimize fouling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sustain intercooler effectiveness.</a:t>
            </a:r>
          </a:p>
          <a:p>
            <a:pPr marL="371640" lvl="1" indent="-185820" algn="just">
              <a:lnSpc>
                <a:spcPts val="2409"/>
              </a:lnSpc>
              <a:spcBef>
                <a:spcPct val="0"/>
              </a:spcBef>
              <a:buFont typeface="Arial"/>
              <a:buChar char="•"/>
            </a:pP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Conduct periodic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compressor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audits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identify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efficiency losses 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implement corrective actions proactively.</a:t>
            </a:r>
          </a:p>
          <a:p>
            <a:pPr marL="371640" lvl="1" indent="-185820" algn="just">
              <a:lnSpc>
                <a:spcPts val="2409"/>
              </a:lnSpc>
              <a:spcBef>
                <a:spcPct val="0"/>
              </a:spcBef>
              <a:buFont typeface="Arial"/>
              <a:buChar char="•"/>
            </a:pP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Adopt a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condition-based maintenance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 for intercoolers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compressor internals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prevent unexpected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failures </a:t>
            </a:r>
            <a:r>
              <a:rPr lang="en-US" sz="17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  <a:r>
              <a:rPr lang="en-US" sz="172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efficiency degradation.</a:t>
            </a:r>
          </a:p>
          <a:p>
            <a:pPr algn="just">
              <a:lnSpc>
                <a:spcPts val="2409"/>
              </a:lnSpc>
              <a:spcBef>
                <a:spcPct val="0"/>
              </a:spcBef>
            </a:pPr>
            <a:endParaRPr lang="en-US" sz="1721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21</TotalTime>
  <Words>2072</Words>
  <Application>Microsoft Office PowerPoint</Application>
  <PresentationFormat>Widescreen</PresentationFormat>
  <Paragraphs>928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Arimo</vt:lpstr>
      <vt:lpstr>Arimo Bold</vt:lpstr>
      <vt:lpstr>Canva Sans</vt:lpstr>
      <vt:lpstr>Canva Sans Bold</vt:lpstr>
      <vt:lpstr>Century Gothic</vt:lpstr>
      <vt:lpstr>Garamond</vt:lpstr>
      <vt:lpstr>Savon</vt:lpstr>
      <vt:lpstr>Compressor-Performance-Analyzer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Rogue Knight</dc:creator>
  <cp:lastModifiedBy>Rogue Knight</cp:lastModifiedBy>
  <cp:revision>2</cp:revision>
  <dcterms:created xsi:type="dcterms:W3CDTF">2026-08-19T16:48:17Z</dcterms:created>
  <dcterms:modified xsi:type="dcterms:W3CDTF">2026-08-19T17:26:36Z</dcterms:modified>
</cp:coreProperties>
</file>